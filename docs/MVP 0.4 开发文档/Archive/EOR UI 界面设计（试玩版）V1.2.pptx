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66" r:id="rId4"/>
    <p:sldId id="260" r:id="rId5"/>
    <p:sldId id="273" r:id="rId6"/>
    <p:sldId id="259" r:id="rId7"/>
    <p:sldId id="261" r:id="rId8"/>
    <p:sldId id="264" r:id="rId9"/>
    <p:sldId id="265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016760" y="1332865"/>
            <a:ext cx="7387590" cy="337502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620510" y="4114165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开始游戏</a:t>
            </a:r>
            <a:endParaRPr lang="zh-C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4669155" y="180340"/>
            <a:ext cx="303149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-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铁血鹰旗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2473325" y="2105660"/>
          <a:ext cx="6616065" cy="1604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55"/>
                <a:gridCol w="2205355"/>
                <a:gridCol w="2205355"/>
              </a:tblGrid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玩家</a:t>
                      </a:r>
                      <a:r>
                        <a:rPr lang="zh-CN" altLang="en-US" sz="1000"/>
                        <a:t>昵称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选择</a:t>
                      </a:r>
                      <a:r>
                        <a:rPr lang="zh-CN" altLang="en-US" sz="1000"/>
                        <a:t>派系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准备</a:t>
                      </a:r>
                      <a:r>
                        <a:rPr lang="zh-CN" altLang="en-US" sz="1000"/>
                        <a:t>状态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克劳狄乌斯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罗马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已就绪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海布里达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迦太基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已</a:t>
                      </a:r>
                      <a:r>
                        <a:rPr lang="zh-CN" altLang="en-US" sz="1000"/>
                        <a:t>就绪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埃提乌斯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叙拉古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未</a:t>
                      </a:r>
                      <a:r>
                        <a:rPr lang="zh-CN" altLang="en-US" sz="1000"/>
                        <a:t>就绪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霍勒</a:t>
                      </a:r>
                      <a:r>
                        <a:rPr lang="zh-CN" altLang="en-US" sz="1000"/>
                        <a:t>留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伊庇鲁斯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未就绪</a:t>
                      </a:r>
                      <a:endParaRPr 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s 10"/>
          <p:cNvSpPr/>
          <p:nvPr/>
        </p:nvSpPr>
        <p:spPr>
          <a:xfrm>
            <a:off x="3393440" y="1650365"/>
            <a:ext cx="1732280" cy="275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000"/>
              <a:t>克劳狄乌斯的罗马世界</a:t>
            </a:r>
            <a:endParaRPr lang="zh-CN" altLang="en-US" sz="1000"/>
          </a:p>
        </p:txBody>
      </p:sp>
      <p:sp>
        <p:nvSpPr>
          <p:cNvPr id="12" name="Text Box 11"/>
          <p:cNvSpPr txBox="1"/>
          <p:nvPr/>
        </p:nvSpPr>
        <p:spPr>
          <a:xfrm>
            <a:off x="2567940" y="1661160"/>
            <a:ext cx="8255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游戏主机</a:t>
            </a:r>
            <a:endParaRPr lang="zh-CN" altLang="en-US" sz="1000"/>
          </a:p>
        </p:txBody>
      </p:sp>
      <p:sp>
        <p:nvSpPr>
          <p:cNvPr id="32" name="Up Ribbon 31"/>
          <p:cNvSpPr/>
          <p:nvPr/>
        </p:nvSpPr>
        <p:spPr>
          <a:xfrm>
            <a:off x="123825" y="4612005"/>
            <a:ext cx="1490980" cy="34544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创建</a:t>
            </a:r>
            <a:r>
              <a:rPr lang="zh-CN" altLang="en-US" sz="1000"/>
              <a:t>游戏</a:t>
            </a:r>
            <a:endParaRPr lang="zh-CN" altLang="en-US" sz="1000"/>
          </a:p>
        </p:txBody>
      </p:sp>
      <p:sp>
        <p:nvSpPr>
          <p:cNvPr id="33" name="Up Ribbon 32"/>
          <p:cNvSpPr/>
          <p:nvPr/>
        </p:nvSpPr>
        <p:spPr>
          <a:xfrm>
            <a:off x="123825" y="5524500"/>
            <a:ext cx="149098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退出</a:t>
            </a:r>
            <a:r>
              <a:rPr lang="zh-CN" altLang="zh-CN" sz="1000"/>
              <a:t>游戏</a:t>
            </a:r>
            <a:endParaRPr lang="zh-CN" altLang="zh-CN" sz="1000"/>
          </a:p>
        </p:txBody>
      </p:sp>
      <p:sp>
        <p:nvSpPr>
          <p:cNvPr id="14" name="Up Ribbon 13"/>
          <p:cNvSpPr/>
          <p:nvPr/>
        </p:nvSpPr>
        <p:spPr>
          <a:xfrm>
            <a:off x="123825" y="5088890"/>
            <a:ext cx="149098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加入</a:t>
            </a:r>
            <a:r>
              <a:rPr lang="zh-CN" altLang="en-US" sz="1000"/>
              <a:t>游戏</a:t>
            </a:r>
            <a:endParaRPr lang="zh-CN" altLang="en-US" sz="1000"/>
          </a:p>
        </p:txBody>
      </p:sp>
      <p:sp>
        <p:nvSpPr>
          <p:cNvPr id="15" name="Rounded Rectangle 14"/>
          <p:cNvSpPr/>
          <p:nvPr/>
        </p:nvSpPr>
        <p:spPr>
          <a:xfrm>
            <a:off x="3603625" y="4114165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新增</a:t>
            </a:r>
            <a:r>
              <a:rPr lang="zh-CN" altLang="en-US"/>
              <a:t>玩家</a:t>
            </a:r>
            <a:endParaRPr lang="zh-CN" altLang="en-US"/>
          </a:p>
        </p:txBody>
      </p:sp>
      <p:sp>
        <p:nvSpPr>
          <p:cNvPr id="17" name="Flowchart: Merge 16"/>
          <p:cNvSpPr/>
          <p:nvPr/>
        </p:nvSpPr>
        <p:spPr>
          <a:xfrm>
            <a:off x="8811895" y="248158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517380" y="2397125"/>
            <a:ext cx="13322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此</a:t>
            </a:r>
            <a:r>
              <a:rPr lang="zh-CN" altLang="en-US" sz="1000">
                <a:solidFill>
                  <a:schemeClr val="bg1"/>
                </a:solidFill>
              </a:rPr>
              <a:t>按钮可踢玩家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7" name="Flowchart: Merge 6"/>
          <p:cNvSpPr/>
          <p:nvPr/>
        </p:nvSpPr>
        <p:spPr>
          <a:xfrm>
            <a:off x="8811895" y="273304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Flowchart: Merge 7"/>
          <p:cNvSpPr/>
          <p:nvPr/>
        </p:nvSpPr>
        <p:spPr>
          <a:xfrm>
            <a:off x="8811895" y="298450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Flowchart: Merge 12"/>
          <p:cNvSpPr/>
          <p:nvPr/>
        </p:nvSpPr>
        <p:spPr>
          <a:xfrm>
            <a:off x="8811895" y="323596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016760" y="1332865"/>
            <a:ext cx="7387590" cy="337502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125085" y="4114165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就绪</a:t>
            </a:r>
            <a:endParaRPr lang="zh-C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4669155" y="180340"/>
            <a:ext cx="303149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-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铁血鹰旗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2473325" y="2105660"/>
          <a:ext cx="661606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55"/>
                <a:gridCol w="2205355"/>
                <a:gridCol w="220535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玩家昵称（</a:t>
                      </a:r>
                      <a:r>
                        <a:rPr lang="en-US" altLang="zh-CN" sz="1000"/>
                        <a:t>TXT</a:t>
                      </a:r>
                      <a:r>
                        <a:rPr lang="zh-CN" altLang="en-US" sz="1000"/>
                        <a:t>输入）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选择派系（</a:t>
                      </a:r>
                      <a:r>
                        <a:rPr lang="zh-CN" altLang="en-US" sz="1000"/>
                        <a:t>下拉菜单）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准备</a:t>
                      </a:r>
                      <a:r>
                        <a:rPr lang="zh-CN" altLang="en-US" sz="1000"/>
                        <a:t>状态</a:t>
                      </a:r>
                      <a:endParaRPr lang="zh-CN" altLang="en-US" sz="10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克劳狄乌斯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罗马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已就绪</a:t>
                      </a:r>
                      <a:endParaRPr lang="zh-CN" altLang="en-US" sz="10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海布里达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迦太基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已</a:t>
                      </a:r>
                      <a:r>
                        <a:rPr lang="zh-CN" altLang="en-US" sz="1000"/>
                        <a:t>就绪</a:t>
                      </a:r>
                      <a:endParaRPr lang="zh-CN" altLang="en-US" sz="10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埃提乌斯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叙拉古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未</a:t>
                      </a:r>
                      <a:r>
                        <a:rPr lang="zh-CN" altLang="en-US" sz="1000"/>
                        <a:t>就绪</a:t>
                      </a:r>
                      <a:endParaRPr lang="zh-CN" altLang="en-US" sz="10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霍勒</a:t>
                      </a:r>
                      <a:r>
                        <a:rPr lang="zh-CN" altLang="en-US" sz="1000"/>
                        <a:t>留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伊庇鲁斯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未就绪</a:t>
                      </a:r>
                      <a:endParaRPr 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s 10"/>
          <p:cNvSpPr/>
          <p:nvPr/>
        </p:nvSpPr>
        <p:spPr>
          <a:xfrm>
            <a:off x="3393440" y="1650365"/>
            <a:ext cx="1732280" cy="27559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000"/>
              <a:t>克劳狄乌斯的罗马世界</a:t>
            </a:r>
            <a:endParaRPr lang="zh-CN" altLang="en-US" sz="1000"/>
          </a:p>
        </p:txBody>
      </p:sp>
      <p:sp>
        <p:nvSpPr>
          <p:cNvPr id="12" name="Text Box 11"/>
          <p:cNvSpPr txBox="1"/>
          <p:nvPr/>
        </p:nvSpPr>
        <p:spPr>
          <a:xfrm>
            <a:off x="2567940" y="1661160"/>
            <a:ext cx="8255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游戏主机</a:t>
            </a:r>
            <a:endParaRPr lang="zh-CN" altLang="en-US" sz="1000"/>
          </a:p>
        </p:txBody>
      </p:sp>
      <p:sp>
        <p:nvSpPr>
          <p:cNvPr id="32" name="Up Ribbon 31"/>
          <p:cNvSpPr/>
          <p:nvPr/>
        </p:nvSpPr>
        <p:spPr>
          <a:xfrm>
            <a:off x="123825" y="4612005"/>
            <a:ext cx="1490980" cy="34544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创建</a:t>
            </a:r>
            <a:r>
              <a:rPr lang="zh-CN" altLang="zh-CN" sz="1000">
                <a:sym typeface="+mn-ea"/>
              </a:rPr>
              <a:t>游戏</a:t>
            </a:r>
            <a:endParaRPr lang="zh-CN" altLang="zh-CN" sz="1000">
              <a:sym typeface="+mn-ea"/>
            </a:endParaRPr>
          </a:p>
        </p:txBody>
      </p:sp>
      <p:sp>
        <p:nvSpPr>
          <p:cNvPr id="33" name="Up Ribbon 32"/>
          <p:cNvSpPr/>
          <p:nvPr/>
        </p:nvSpPr>
        <p:spPr>
          <a:xfrm>
            <a:off x="123825" y="5524500"/>
            <a:ext cx="149098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退出</a:t>
            </a:r>
            <a:r>
              <a:rPr lang="zh-CN" altLang="zh-CN" sz="1000"/>
              <a:t>游戏</a:t>
            </a:r>
            <a:endParaRPr lang="zh-CN" altLang="zh-CN" sz="1000"/>
          </a:p>
        </p:txBody>
      </p:sp>
      <p:sp>
        <p:nvSpPr>
          <p:cNvPr id="14" name="Up Ribbon 13"/>
          <p:cNvSpPr/>
          <p:nvPr/>
        </p:nvSpPr>
        <p:spPr>
          <a:xfrm>
            <a:off x="123825" y="5088890"/>
            <a:ext cx="1490980" cy="30353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加入</a:t>
            </a:r>
            <a:r>
              <a:rPr lang="zh-CN" altLang="en-US" sz="1000">
                <a:sym typeface="+mn-ea"/>
              </a:rPr>
              <a:t>游戏</a:t>
            </a:r>
            <a:endParaRPr lang="zh-CN" altLang="en-US" sz="1000">
              <a:sym typeface="+mn-ea"/>
            </a:endParaRPr>
          </a:p>
        </p:txBody>
      </p:sp>
      <p:sp>
        <p:nvSpPr>
          <p:cNvPr id="44" name="Flowchart: Merge 43"/>
          <p:cNvSpPr/>
          <p:nvPr/>
        </p:nvSpPr>
        <p:spPr>
          <a:xfrm>
            <a:off x="6569075" y="262953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41680" y="1573530"/>
            <a:ext cx="4185920" cy="2178050"/>
            <a:chOff x="2500" y="1108"/>
            <a:chExt cx="6592" cy="3430"/>
          </a:xfrm>
        </p:grpSpPr>
        <p:sp>
          <p:nvSpPr>
            <p:cNvPr id="4" name="Rounded Rectangle 3"/>
            <p:cNvSpPr/>
            <p:nvPr/>
          </p:nvSpPr>
          <p:spPr>
            <a:xfrm>
              <a:off x="2500" y="1108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Text Box 5"/>
            <p:cNvSpPr txBox="1"/>
            <p:nvPr/>
          </p:nvSpPr>
          <p:spPr>
            <a:xfrm>
              <a:off x="4372" y="1452"/>
              <a:ext cx="31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罗马共和国</a:t>
              </a:r>
              <a:r>
                <a:rPr lang="zh-CN" altLang="en-US"/>
                <a:t>介绍</a:t>
              </a:r>
              <a:endParaRPr lang="zh-CN" altLang="en-US"/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3264" y="2032"/>
              <a:ext cx="4768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执政官</a:t>
              </a:r>
              <a:r>
                <a:rPr lang="zh-CN" altLang="en-US" sz="1000"/>
                <a:t>阁下，</a:t>
              </a:r>
              <a:endParaRPr lang="zh-CN" altLang="en-US" sz="1000"/>
            </a:p>
            <a:p>
              <a:r>
                <a:rPr lang="zh-CN" altLang="en-US" sz="1000"/>
                <a:t>你控制的疆域</a:t>
              </a:r>
              <a:r>
                <a:rPr lang="zh-CN" altLang="en-US" sz="1000"/>
                <a:t>有。。。。。</a:t>
              </a:r>
              <a:endParaRPr lang="zh-CN" altLang="en-US" sz="1000"/>
            </a:p>
            <a:p>
              <a:r>
                <a:rPr lang="zh-CN" altLang="en-US" sz="1000"/>
                <a:t>你控制的军队</a:t>
              </a:r>
              <a:r>
                <a:rPr lang="zh-CN" altLang="en-US" sz="1000"/>
                <a:t>有。。。。。</a:t>
              </a:r>
              <a:endParaRPr lang="zh-CN" altLang="en-US" sz="1000"/>
            </a:p>
            <a:p>
              <a:r>
                <a:rPr lang="zh-CN" altLang="en-US" sz="1000"/>
                <a:t>你的敌国</a:t>
              </a:r>
              <a:r>
                <a:rPr lang="zh-CN" altLang="en-US" sz="1000"/>
                <a:t>是。。。。</a:t>
              </a:r>
              <a:endParaRPr lang="zh-CN" altLang="en-US" sz="1000"/>
            </a:p>
            <a:p>
              <a:r>
                <a:rPr lang="zh-CN" altLang="en-US" sz="1000"/>
                <a:t>你的盟国</a:t>
              </a:r>
              <a:r>
                <a:rPr lang="zh-CN" altLang="en-US" sz="1000"/>
                <a:t>是。。。。</a:t>
              </a:r>
              <a:endParaRPr lang="zh-CN" altLang="en-US" sz="1000"/>
            </a:p>
            <a:p>
              <a:r>
                <a:rPr lang="zh-CN" altLang="en-US" sz="1000"/>
                <a:t>现在开始你的征伐</a:t>
              </a:r>
              <a:r>
                <a:rPr lang="zh-CN" altLang="en-US" sz="1000"/>
                <a:t>吧！</a:t>
              </a:r>
              <a:endParaRPr lang="zh-CN" altLang="en-US" sz="1000"/>
            </a:p>
            <a:p>
              <a:endParaRPr lang="zh-CN" altLang="en-US" sz="1000"/>
            </a:p>
            <a:p>
              <a:r>
                <a:rPr lang="zh-CN" altLang="en-US" sz="1000"/>
                <a:t>（游戏</a:t>
              </a:r>
              <a:r>
                <a:rPr lang="zh-CN" altLang="en-US" sz="1000"/>
                <a:t>加载中。。。。。）</a:t>
              </a:r>
              <a:endParaRPr lang="zh-CN" altLang="en-US" sz="1000"/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4669155" y="180340"/>
            <a:ext cx="303149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-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铁血鹰旗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5742305" y="873760"/>
          <a:ext cx="5692140" cy="2282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380"/>
                <a:gridCol w="2357755"/>
                <a:gridCol w="2453005"/>
              </a:tblGrid>
              <a:tr h="3924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派系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派系</a:t>
                      </a:r>
                      <a:r>
                        <a:rPr lang="zh-CN" altLang="en-US" sz="1000"/>
                        <a:t>优势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派系</a:t>
                      </a:r>
                      <a:r>
                        <a:rPr lang="zh-CN" altLang="en-US" sz="1000"/>
                        <a:t>劣势</a:t>
                      </a:r>
                      <a:endParaRPr lang="zh-CN" altLang="en-US" sz="1000"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罗马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农业区</a:t>
                      </a:r>
                      <a:r>
                        <a:rPr lang="zh-CN" altLang="en-US" sz="1000"/>
                        <a:t>粮食增加</a:t>
                      </a:r>
                      <a:r>
                        <a:rPr lang="en-US" altLang="zh-CN" sz="1000"/>
                        <a:t>10%</a:t>
                      </a:r>
                      <a:endParaRPr lang="en-US" altLang="zh-CN" sz="1000"/>
                    </a:p>
                    <a:p>
                      <a:pPr>
                        <a:buNone/>
                      </a:pPr>
                      <a:r>
                        <a:rPr lang="zh-CN" altLang="en-US" sz="1000"/>
                        <a:t>公民兵制度（招募费</a:t>
                      </a:r>
                      <a:r>
                        <a:rPr lang="en-US" altLang="zh-CN" sz="1000"/>
                        <a:t>-20%</a:t>
                      </a:r>
                      <a:r>
                        <a:rPr lang="zh-CN" altLang="en-US" sz="1000"/>
                        <a:t>，维护费</a:t>
                      </a:r>
                      <a:r>
                        <a:rPr lang="en-US" altLang="zh-CN" sz="1000"/>
                        <a:t>-20%</a:t>
                      </a:r>
                      <a:r>
                        <a:rPr lang="zh-CN" altLang="en-US" sz="1000"/>
                        <a:t>）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新建军团等级</a:t>
                      </a:r>
                      <a:r>
                        <a:rPr lang="zh-CN" altLang="en-US" sz="1000"/>
                        <a:t>低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伊庇鲁斯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新建军团等级</a:t>
                      </a:r>
                      <a:r>
                        <a:rPr lang="zh-CN" altLang="en-US" sz="1000">
                          <a:sym typeface="+mn-ea"/>
                        </a:rPr>
                        <a:t>高</a:t>
                      </a:r>
                      <a:endParaRPr lang="zh-CN" altLang="en-US" sz="10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农业区产值增加</a:t>
                      </a:r>
                      <a:r>
                        <a:rPr lang="en-US" altLang="zh-CN" sz="1000">
                          <a:sym typeface="+mn-ea"/>
                        </a:rPr>
                        <a:t>10%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商业区收入减少</a:t>
                      </a:r>
                      <a:r>
                        <a:rPr lang="en-US" altLang="zh-CN" sz="1000"/>
                        <a:t>10%</a:t>
                      </a:r>
                      <a:endParaRPr lang="en-US" altLang="zh-CN" sz="1000"/>
                    </a:p>
                    <a:p>
                      <a:pPr>
                        <a:buNone/>
                      </a:pPr>
                      <a:endParaRPr lang="en-US" altLang="zh-CN" sz="1000"/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叙拉古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新建军团等级</a:t>
                      </a:r>
                      <a:r>
                        <a:rPr lang="zh-CN" altLang="en-US" sz="1000"/>
                        <a:t>中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可以招募雇佣军</a:t>
                      </a:r>
                      <a:endParaRPr lang="zh-CN" altLang="en-US" sz="10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/>
                        <a:t>商业区收入增加</a:t>
                      </a:r>
                      <a:r>
                        <a:rPr lang="en-US" altLang="zh-CN" sz="1000"/>
                        <a:t>10%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军团维护费</a:t>
                      </a:r>
                      <a:r>
                        <a:rPr lang="en-US" altLang="zh-CN" sz="1000">
                          <a:sym typeface="+mn-ea"/>
                        </a:rPr>
                        <a:t>+5%</a:t>
                      </a:r>
                      <a:endParaRPr lang="en-US" altLang="zh-CN" sz="1000"/>
                    </a:p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迦太基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新建军团等级</a:t>
                      </a:r>
                      <a:r>
                        <a:rPr lang="zh-CN" altLang="en-US" sz="1000"/>
                        <a:t>中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r>
                        <a:rPr lang="zh-CN" altLang="en-US" sz="1000"/>
                        <a:t>可以招募雇佣军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商业区收入增加</a:t>
                      </a:r>
                      <a:r>
                        <a:rPr lang="en-US" altLang="zh-CN" sz="1000">
                          <a:sym typeface="+mn-ea"/>
                        </a:rPr>
                        <a:t>10%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军团维护费</a:t>
                      </a:r>
                      <a:r>
                        <a:rPr lang="en-US" altLang="zh-CN" sz="1000"/>
                        <a:t>+5%</a:t>
                      </a:r>
                      <a:endParaRPr lang="en-US" altLang="zh-CN" sz="10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5675630" y="4123055"/>
          <a:ext cx="569214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950"/>
                <a:gridCol w="1667510"/>
                <a:gridCol w="1484630"/>
                <a:gridCol w="1543050"/>
              </a:tblGrid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对象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属性</a:t>
                      </a:r>
                      <a:r>
                        <a:rPr lang="en-US" altLang="zh-CN" sz="1000"/>
                        <a:t>1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属性</a:t>
                      </a:r>
                      <a:r>
                        <a:rPr lang="en-US" altLang="zh-CN" sz="1000"/>
                        <a:t>2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属性</a:t>
                      </a:r>
                      <a:r>
                        <a:rPr lang="en-US" altLang="zh-CN" sz="1000"/>
                        <a:t>3</a:t>
                      </a:r>
                      <a:endParaRPr lang="en-US" altLang="zh-CN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军团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招募</a:t>
                      </a:r>
                      <a:r>
                        <a:rPr lang="zh-CN" altLang="en-US" sz="1000"/>
                        <a:t>费用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维持</a:t>
                      </a:r>
                      <a:r>
                        <a:rPr lang="zh-CN" altLang="en-US" sz="1000"/>
                        <a:t>费用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经验</a:t>
                      </a:r>
                      <a:r>
                        <a:rPr lang="zh-CN" altLang="en-US" sz="1000"/>
                        <a:t>等级</a:t>
                      </a: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人口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商业区</a:t>
                      </a:r>
                      <a:r>
                        <a:rPr lang="zh-CN" altLang="en-US" sz="1000">
                          <a:sym typeface="+mn-ea"/>
                        </a:rPr>
                        <a:t>增长率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农业区</a:t>
                      </a:r>
                      <a:r>
                        <a:rPr lang="zh-CN" altLang="en-US" sz="1000">
                          <a:sym typeface="+mn-ea"/>
                        </a:rPr>
                        <a:t>增长率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粮食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商业区消耗</a:t>
                      </a:r>
                      <a:r>
                        <a:rPr lang="zh-CN" altLang="en-US" sz="1000"/>
                        <a:t>率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农业区</a:t>
                      </a:r>
                      <a:r>
                        <a:rPr lang="zh-CN" altLang="en-US" sz="1000"/>
                        <a:t>增长率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收入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商业区</a:t>
                      </a:r>
                      <a:r>
                        <a:rPr lang="zh-CN" altLang="en-US" sz="1000"/>
                        <a:t>增长率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农业区增长</a:t>
                      </a:r>
                      <a:r>
                        <a:rPr lang="zh-CN" altLang="en-US" sz="1000"/>
                        <a:t>率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919605" y="1117600"/>
            <a:ext cx="5067935" cy="2767965"/>
            <a:chOff x="2500" y="1108"/>
            <a:chExt cx="9233" cy="3430"/>
          </a:xfrm>
        </p:grpSpPr>
        <p:sp>
          <p:nvSpPr>
            <p:cNvPr id="4" name="Rounded Rectangle 3"/>
            <p:cNvSpPr/>
            <p:nvPr/>
          </p:nvSpPr>
          <p:spPr>
            <a:xfrm>
              <a:off x="2500" y="1108"/>
              <a:ext cx="9233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Text Box 5"/>
            <p:cNvSpPr txBox="1"/>
            <p:nvPr/>
          </p:nvSpPr>
          <p:spPr>
            <a:xfrm>
              <a:off x="4848" y="1346"/>
              <a:ext cx="4537" cy="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BC278</a:t>
              </a:r>
              <a:r>
                <a:rPr lang="zh-CN" altLang="en-US"/>
                <a:t>年春</a:t>
              </a:r>
              <a:r>
                <a:rPr lang="en-US" altLang="zh-CN"/>
                <a:t> </a:t>
              </a:r>
              <a:r>
                <a:rPr lang="zh-CN" altLang="en-US"/>
                <a:t>事件</a:t>
              </a:r>
              <a:r>
                <a:rPr lang="zh-CN" altLang="en-US"/>
                <a:t>列表</a:t>
              </a:r>
              <a:endParaRPr lang="zh-CN" altLang="en-US"/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4669155" y="180340"/>
            <a:ext cx="303149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-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铁血鹰旗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2182495" y="1880235"/>
          <a:ext cx="4412615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175"/>
                <a:gridCol w="2653665"/>
                <a:gridCol w="993775"/>
              </a:tblGrid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事件</a:t>
                      </a:r>
                      <a:r>
                        <a:rPr lang="zh-CN" altLang="en-US" sz="1000"/>
                        <a:t>类型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事件</a:t>
                      </a:r>
                      <a:r>
                        <a:rPr lang="zh-CN" altLang="en-US" sz="1000"/>
                        <a:t>描述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事件</a:t>
                      </a:r>
                      <a:r>
                        <a:rPr lang="zh-CN" altLang="en-US" sz="1000"/>
                        <a:t>处理</a:t>
                      </a: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战斗</a:t>
                      </a:r>
                      <a:r>
                        <a:rPr lang="zh-CN" altLang="en-US" sz="1000"/>
                        <a:t>事件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第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军团</a:t>
                      </a:r>
                      <a:r>
                        <a:rPr lang="zh-CN" altLang="en-US" sz="1000"/>
                        <a:t>遇到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伏击</a:t>
                      </a:r>
                      <a:r>
                        <a:rPr lang="zh-CN" altLang="en-US" sz="1000"/>
                        <a:t>，敌军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伊特鲁里亚</a:t>
                      </a:r>
                      <a:endParaRPr lang="zh-CN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外交</a:t>
                      </a:r>
                      <a:r>
                        <a:rPr lang="zh-CN" altLang="en-US" sz="1000"/>
                        <a:t>事件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sym typeface="+mn-ea"/>
                        </a:rPr>
                        <a:t>叙拉古</a:t>
                      </a:r>
                      <a:r>
                        <a:rPr lang="zh-CN" altLang="en-US" sz="1000">
                          <a:sym typeface="+mn-ea"/>
                        </a:rPr>
                        <a:t>派来</a:t>
                      </a:r>
                      <a:r>
                        <a:rPr lang="zh-CN" altLang="en-US" sz="1000">
                          <a:sym typeface="+mn-ea"/>
                        </a:rPr>
                        <a:t>使团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军事</a:t>
                      </a:r>
                      <a:r>
                        <a:rPr lang="zh-CN" altLang="en-US" sz="1000"/>
                        <a:t>情报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</a:rPr>
                        <a:t>我们的使团从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迦太基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</a:rPr>
                        <a:t>返回了</a:t>
                      </a:r>
                      <a:endParaRPr lang="zh-CN" alt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经济</a:t>
                      </a:r>
                      <a:r>
                        <a:rPr lang="zh-CN" altLang="en-US" sz="1000"/>
                        <a:t>情报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我们的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粮食</a:t>
                      </a:r>
                      <a:r>
                        <a:rPr lang="zh-CN" altLang="en-US" sz="1000"/>
                        <a:t>入不敷出了，人民陷入</a:t>
                      </a:r>
                      <a:r>
                        <a:rPr lang="zh-CN" altLang="en-US" sz="1000"/>
                        <a:t>饥荒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" name="Up Ribbon 31"/>
          <p:cNvSpPr/>
          <p:nvPr/>
        </p:nvSpPr>
        <p:spPr>
          <a:xfrm>
            <a:off x="56515" y="3720465"/>
            <a:ext cx="1233170" cy="34544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内政</a:t>
            </a:r>
            <a:endParaRPr lang="zh-CN" altLang="en-US" sz="1000">
              <a:sym typeface="+mn-ea"/>
            </a:endParaRPr>
          </a:p>
        </p:txBody>
      </p:sp>
      <p:sp>
        <p:nvSpPr>
          <p:cNvPr id="33" name="Up Ribbon 32"/>
          <p:cNvSpPr/>
          <p:nvPr/>
        </p:nvSpPr>
        <p:spPr>
          <a:xfrm>
            <a:off x="56515" y="463296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外交</a:t>
            </a:r>
            <a:endParaRPr lang="zh-CN" altLang="zh-CN" sz="1000"/>
          </a:p>
        </p:txBody>
      </p:sp>
      <p:sp>
        <p:nvSpPr>
          <p:cNvPr id="8" name="Up Ribbon 7"/>
          <p:cNvSpPr/>
          <p:nvPr/>
        </p:nvSpPr>
        <p:spPr>
          <a:xfrm>
            <a:off x="56515" y="419735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军政</a:t>
            </a:r>
            <a:endParaRPr lang="zh-CN" altLang="en-US" sz="1000"/>
          </a:p>
        </p:txBody>
      </p:sp>
      <p:sp>
        <p:nvSpPr>
          <p:cNvPr id="17" name="Up Ribbon 16"/>
          <p:cNvSpPr/>
          <p:nvPr/>
        </p:nvSpPr>
        <p:spPr>
          <a:xfrm>
            <a:off x="56515" y="505904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战报</a:t>
            </a:r>
            <a:endParaRPr lang="zh-CN" altLang="zh-CN" sz="1000"/>
          </a:p>
        </p:txBody>
      </p:sp>
      <p:sp>
        <p:nvSpPr>
          <p:cNvPr id="24" name="Up Ribbon 23"/>
          <p:cNvSpPr/>
          <p:nvPr/>
        </p:nvSpPr>
        <p:spPr>
          <a:xfrm>
            <a:off x="56515" y="549402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菜单</a:t>
            </a:r>
            <a:endParaRPr lang="zh-CN" altLang="zh-CN" sz="1000">
              <a:sym typeface="+mn-ea"/>
            </a:endParaRPr>
          </a:p>
        </p:txBody>
      </p:sp>
      <p:sp>
        <p:nvSpPr>
          <p:cNvPr id="25" name="Up Ribbon 24"/>
          <p:cNvSpPr/>
          <p:nvPr/>
        </p:nvSpPr>
        <p:spPr>
          <a:xfrm>
            <a:off x="56515" y="3285490"/>
            <a:ext cx="1233170" cy="30353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事件</a:t>
            </a:r>
            <a:endParaRPr lang="zh-CN" altLang="en-US" sz="1000">
              <a:sym typeface="+mn-e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720080" y="214185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进入</a:t>
            </a:r>
            <a:r>
              <a:rPr lang="zh-CN" altLang="en-US" sz="1000"/>
              <a:t>战场</a:t>
            </a:r>
            <a:endParaRPr lang="zh-CN" altLang="en-US" sz="1000"/>
          </a:p>
        </p:txBody>
      </p:sp>
      <p:sp>
        <p:nvSpPr>
          <p:cNvPr id="11" name="Rounded Rectangle 10"/>
          <p:cNvSpPr/>
          <p:nvPr/>
        </p:nvSpPr>
        <p:spPr>
          <a:xfrm>
            <a:off x="5720080" y="239331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接见</a:t>
            </a:r>
            <a:r>
              <a:rPr lang="zh-CN" altLang="en-US" sz="1000"/>
              <a:t>使节</a:t>
            </a:r>
            <a:endParaRPr lang="zh-CN" altLang="en-US" sz="1000"/>
          </a:p>
        </p:txBody>
      </p:sp>
      <p:sp>
        <p:nvSpPr>
          <p:cNvPr id="12" name="Rounded Rectangle 11"/>
          <p:cNvSpPr/>
          <p:nvPr/>
        </p:nvSpPr>
        <p:spPr>
          <a:xfrm>
            <a:off x="5720080" y="264477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查看</a:t>
            </a:r>
            <a:r>
              <a:rPr lang="zh-CN" altLang="en-US" sz="1000"/>
              <a:t>答复</a:t>
            </a:r>
            <a:endParaRPr lang="zh-CN" altLang="en-US" sz="1000"/>
          </a:p>
        </p:txBody>
      </p:sp>
      <p:sp>
        <p:nvSpPr>
          <p:cNvPr id="15" name="Rounded Rectangle 14"/>
          <p:cNvSpPr/>
          <p:nvPr/>
        </p:nvSpPr>
        <p:spPr>
          <a:xfrm>
            <a:off x="5720080" y="2894330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咨询</a:t>
            </a:r>
            <a:r>
              <a:rPr lang="zh-CN" altLang="en-US" sz="1000"/>
              <a:t>顾问</a:t>
            </a:r>
            <a:endParaRPr lang="zh-CN" altLang="en-US" sz="1000"/>
          </a:p>
        </p:txBody>
      </p:sp>
      <p:sp>
        <p:nvSpPr>
          <p:cNvPr id="28" name="Rounded Rectangle 27"/>
          <p:cNvSpPr/>
          <p:nvPr/>
        </p:nvSpPr>
        <p:spPr>
          <a:xfrm>
            <a:off x="3973830" y="3286125"/>
            <a:ext cx="1178560" cy="36004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84" name="Rounded Rectangle 83"/>
          <p:cNvSpPr/>
          <p:nvPr/>
        </p:nvSpPr>
        <p:spPr>
          <a:xfrm>
            <a:off x="7778750" y="911860"/>
            <a:ext cx="3314065" cy="266446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86" name="Rounded Rectangle 85"/>
          <p:cNvSpPr/>
          <p:nvPr/>
        </p:nvSpPr>
        <p:spPr>
          <a:xfrm>
            <a:off x="8310880" y="300482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确定</a:t>
            </a:r>
            <a:endParaRPr lang="zh-CN" altLang="en-US" sz="1000"/>
          </a:p>
        </p:txBody>
      </p:sp>
      <p:sp>
        <p:nvSpPr>
          <p:cNvPr id="87" name="Rounded Rectangle 86"/>
          <p:cNvSpPr/>
          <p:nvPr/>
        </p:nvSpPr>
        <p:spPr>
          <a:xfrm>
            <a:off x="9662160" y="298196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取消</a:t>
            </a:r>
            <a:endParaRPr lang="zh-CN" altLang="en-US" sz="1000"/>
          </a:p>
        </p:txBody>
      </p:sp>
      <p:sp>
        <p:nvSpPr>
          <p:cNvPr id="88" name="Text Box 87"/>
          <p:cNvSpPr txBox="1"/>
          <p:nvPr/>
        </p:nvSpPr>
        <p:spPr>
          <a:xfrm>
            <a:off x="8211820" y="1679575"/>
            <a:ext cx="8312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你的</a:t>
            </a:r>
            <a:r>
              <a:rPr lang="zh-CN" altLang="en-US" sz="1000"/>
              <a:t>命令：</a:t>
            </a:r>
            <a:endParaRPr lang="zh-CN" altLang="en-US" sz="1000"/>
          </a:p>
        </p:txBody>
      </p:sp>
      <p:sp>
        <p:nvSpPr>
          <p:cNvPr id="89" name="Text Box 88"/>
          <p:cNvSpPr txBox="1"/>
          <p:nvPr/>
        </p:nvSpPr>
        <p:spPr>
          <a:xfrm>
            <a:off x="9092565" y="1679575"/>
            <a:ext cx="5695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战斗！</a:t>
            </a:r>
            <a:endParaRPr lang="zh-CN" altLang="en-US" sz="1000"/>
          </a:p>
        </p:txBody>
      </p:sp>
      <p:sp>
        <p:nvSpPr>
          <p:cNvPr id="90" name="Text Box 89"/>
          <p:cNvSpPr txBox="1"/>
          <p:nvPr/>
        </p:nvSpPr>
        <p:spPr>
          <a:xfrm>
            <a:off x="9765030" y="1679575"/>
            <a:ext cx="5924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>
                    <a:lumMod val="65000"/>
                  </a:schemeClr>
                </a:solidFill>
              </a:rPr>
              <a:t>撤退！</a:t>
            </a:r>
            <a:endParaRPr lang="zh-CN" alt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1" name="Flowchart: Connector 90"/>
          <p:cNvSpPr/>
          <p:nvPr/>
        </p:nvSpPr>
        <p:spPr>
          <a:xfrm>
            <a:off x="8974455" y="1750695"/>
            <a:ext cx="68580" cy="781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92" name="Flowchart: Connector 91"/>
          <p:cNvSpPr/>
          <p:nvPr/>
        </p:nvSpPr>
        <p:spPr>
          <a:xfrm>
            <a:off x="9679305" y="1750695"/>
            <a:ext cx="68580" cy="781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3" name="Text Box 92"/>
          <p:cNvSpPr txBox="1"/>
          <p:nvPr/>
        </p:nvSpPr>
        <p:spPr>
          <a:xfrm>
            <a:off x="8211820" y="198691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战斗</a:t>
            </a:r>
            <a:r>
              <a:rPr lang="zh-CN" altLang="en-US" sz="1000"/>
              <a:t>选项：</a:t>
            </a:r>
            <a:endParaRPr lang="zh-CN" altLang="en-US" sz="1000"/>
          </a:p>
        </p:txBody>
      </p:sp>
      <p:sp>
        <p:nvSpPr>
          <p:cNvPr id="100" name="Text Box 99"/>
          <p:cNvSpPr txBox="1"/>
          <p:nvPr/>
        </p:nvSpPr>
        <p:spPr>
          <a:xfrm>
            <a:off x="8310880" y="2649220"/>
            <a:ext cx="224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地区：</a:t>
            </a:r>
            <a:r>
              <a:rPr lang="en-US" altLang="zh-CN" sz="1000"/>
              <a:t> </a:t>
            </a:r>
            <a:r>
              <a:rPr lang="zh-CN" altLang="en-US" sz="1000"/>
              <a:t>亚雷提恩</a:t>
            </a:r>
            <a:endParaRPr lang="zh-CN" altLang="en-US" sz="1000"/>
          </a:p>
        </p:txBody>
      </p:sp>
      <p:sp>
        <p:nvSpPr>
          <p:cNvPr id="85" name="Text Box 84"/>
          <p:cNvSpPr txBox="1"/>
          <p:nvPr/>
        </p:nvSpPr>
        <p:spPr>
          <a:xfrm>
            <a:off x="8733790" y="942975"/>
            <a:ext cx="15982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第</a:t>
            </a:r>
            <a:r>
              <a:rPr lang="en-US" altLang="zh-CN" sz="1000"/>
              <a:t>3</a:t>
            </a:r>
            <a:r>
              <a:rPr lang="zh-CN" altLang="en-US" sz="1000"/>
              <a:t>军团战斗</a:t>
            </a:r>
            <a:r>
              <a:rPr lang="zh-CN" altLang="en-US" sz="1000"/>
              <a:t>对策</a:t>
            </a:r>
            <a:endParaRPr lang="zh-CN" altLang="en-US" sz="1000"/>
          </a:p>
        </p:txBody>
      </p:sp>
      <p:sp>
        <p:nvSpPr>
          <p:cNvPr id="16" name="Rounded Rectangle 15"/>
          <p:cNvSpPr/>
          <p:nvPr/>
        </p:nvSpPr>
        <p:spPr>
          <a:xfrm>
            <a:off x="8310880" y="1273810"/>
            <a:ext cx="857885" cy="34353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敌军</a:t>
            </a:r>
            <a:r>
              <a:rPr lang="zh-CN" altLang="en-US" sz="1000"/>
              <a:t>情报</a:t>
            </a:r>
            <a:endParaRPr lang="zh-CN" altLang="en-US" sz="1000"/>
          </a:p>
        </p:txBody>
      </p:sp>
      <p:sp>
        <p:nvSpPr>
          <p:cNvPr id="18" name="Rounded Rectangle 17"/>
          <p:cNvSpPr/>
          <p:nvPr/>
        </p:nvSpPr>
        <p:spPr>
          <a:xfrm>
            <a:off x="9474200" y="1273810"/>
            <a:ext cx="857885" cy="34353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我军</a:t>
            </a:r>
            <a:r>
              <a:rPr lang="zh-CN" altLang="en-US" sz="1000"/>
              <a:t>情报</a:t>
            </a:r>
            <a:endParaRPr lang="zh-CN" altLang="en-US" sz="1000"/>
          </a:p>
        </p:txBody>
      </p:sp>
      <p:sp>
        <p:nvSpPr>
          <p:cNvPr id="19" name="Text Box 18"/>
          <p:cNvSpPr txBox="1"/>
          <p:nvPr/>
        </p:nvSpPr>
        <p:spPr>
          <a:xfrm>
            <a:off x="9150985" y="1986280"/>
            <a:ext cx="11811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进入罗</a:t>
            </a:r>
            <a:r>
              <a:rPr lang="en-US" altLang="zh-CN" sz="1000"/>
              <a:t>2</a:t>
            </a:r>
            <a:r>
              <a:rPr lang="zh-CN" altLang="en-US" sz="1000"/>
              <a:t>战场</a:t>
            </a:r>
            <a:endParaRPr lang="zh-CN" altLang="en-US" sz="1000"/>
          </a:p>
        </p:txBody>
      </p:sp>
      <p:sp>
        <p:nvSpPr>
          <p:cNvPr id="20" name="Flowchart: Connector 19"/>
          <p:cNvSpPr/>
          <p:nvPr/>
        </p:nvSpPr>
        <p:spPr>
          <a:xfrm>
            <a:off x="8991600" y="2057400"/>
            <a:ext cx="68580" cy="781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21" name="Flowchart: Connector 20"/>
          <p:cNvSpPr/>
          <p:nvPr/>
        </p:nvSpPr>
        <p:spPr>
          <a:xfrm>
            <a:off x="8991600" y="2284730"/>
            <a:ext cx="68580" cy="781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9176385" y="2201545"/>
            <a:ext cx="11811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EOR</a:t>
            </a:r>
            <a:r>
              <a:rPr lang="zh-CN" altLang="en-US" sz="1000"/>
              <a:t>自动</a:t>
            </a:r>
            <a:r>
              <a:rPr lang="zh-CN" altLang="en-US" sz="1000"/>
              <a:t>计算</a:t>
            </a:r>
            <a:endParaRPr lang="zh-CN" altLang="en-US" sz="1000"/>
          </a:p>
        </p:txBody>
      </p:sp>
      <p:sp>
        <p:nvSpPr>
          <p:cNvPr id="23" name="Text Box 22"/>
          <p:cNvSpPr txBox="1"/>
          <p:nvPr/>
        </p:nvSpPr>
        <p:spPr>
          <a:xfrm>
            <a:off x="8310880" y="223520"/>
            <a:ext cx="2145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调用敌我军团配置数据表，展示军团名称，等级和兵牌种类和</a:t>
            </a:r>
            <a:r>
              <a:rPr lang="zh-CN" altLang="en-US" sz="1000">
                <a:solidFill>
                  <a:schemeClr val="bg1"/>
                </a:solidFill>
              </a:rPr>
              <a:t>数据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2182495" y="861695"/>
            <a:ext cx="21456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调用外交界面出使</a:t>
            </a:r>
            <a:r>
              <a:rPr lang="zh-CN" altLang="en-US" sz="1000">
                <a:solidFill>
                  <a:schemeClr val="bg1"/>
                </a:solidFill>
              </a:rPr>
              <a:t>对话框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2182495" y="622300"/>
            <a:ext cx="21456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调用外交界面</a:t>
            </a:r>
            <a:r>
              <a:rPr lang="zh-CN" altLang="en-US" sz="1000">
                <a:solidFill>
                  <a:schemeClr val="bg1"/>
                </a:solidFill>
              </a:rPr>
              <a:t>来使对话框</a:t>
            </a:r>
            <a:endParaRPr lang="zh-CN" altLang="en-US" sz="1000">
              <a:solidFill>
                <a:schemeClr val="bg1"/>
              </a:solidFill>
            </a:endParaRPr>
          </a:p>
        </p:txBody>
      </p:sp>
      <p:cxnSp>
        <p:nvCxnSpPr>
          <p:cNvPr id="31" name="Elbow Connector 30"/>
          <p:cNvCxnSpPr>
            <a:stCxn id="11" idx="3"/>
          </p:cNvCxnSpPr>
          <p:nvPr/>
        </p:nvCxnSpPr>
        <p:spPr>
          <a:xfrm flipH="1" flipV="1">
            <a:off x="3852545" y="749300"/>
            <a:ext cx="2619375" cy="1746885"/>
          </a:xfrm>
          <a:prstGeom prst="bentConnector3">
            <a:avLst>
              <a:gd name="adj1" fmla="val -1568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12" idx="3"/>
            <a:endCxn id="29" idx="2"/>
          </p:cNvCxnSpPr>
          <p:nvPr/>
        </p:nvCxnSpPr>
        <p:spPr>
          <a:xfrm flipH="1" flipV="1">
            <a:off x="3255645" y="1106805"/>
            <a:ext cx="3216275" cy="1640840"/>
          </a:xfrm>
          <a:prstGeom prst="bentConnector4">
            <a:avLst>
              <a:gd name="adj1" fmla="val -7404"/>
              <a:gd name="adj2" fmla="val 6133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561580" y="3831590"/>
            <a:ext cx="4164965" cy="23456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9127490" y="5702935"/>
            <a:ext cx="1033780" cy="28892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关闭</a:t>
            </a:r>
            <a:endParaRPr lang="zh-CN" altLang="en-US" sz="1000">
              <a:sym typeface="+mn-ea"/>
            </a:endParaRPr>
          </a:p>
        </p:txBody>
      </p:sp>
      <p:graphicFrame>
        <p:nvGraphicFramePr>
          <p:cNvPr id="38" name="Table 37"/>
          <p:cNvGraphicFramePr/>
          <p:nvPr/>
        </p:nvGraphicFramePr>
        <p:xfrm>
          <a:off x="7778750" y="4500880"/>
          <a:ext cx="3784600" cy="1007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</a:tblGrid>
              <a:tr h="584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青年兵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>
                          <a:sym typeface="+mn-ea"/>
                        </a:rPr>
                        <a:t>青年兵</a:t>
                      </a:r>
                      <a:endParaRPr lang="zh-CN" altLang="en-US" sz="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>
                          <a:sym typeface="+mn-ea"/>
                        </a:rPr>
                        <a:t>青年兵</a:t>
                      </a:r>
                      <a:endParaRPr lang="zh-CN" altLang="en-US" sz="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投石兵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轻骑兵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</a:tr>
              <a:tr h="422910"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" name="Text Box 39"/>
          <p:cNvSpPr txBox="1"/>
          <p:nvPr/>
        </p:nvSpPr>
        <p:spPr>
          <a:xfrm>
            <a:off x="8423910" y="3885565"/>
            <a:ext cx="2247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伊特鲁里亚第</a:t>
            </a:r>
            <a:r>
              <a:rPr lang="en-US" altLang="zh-CN" u="sng"/>
              <a:t>1</a:t>
            </a:r>
            <a:r>
              <a:rPr lang="zh-CN" altLang="en-US" u="sng"/>
              <a:t>军团</a:t>
            </a:r>
            <a:endParaRPr lang="zh-CN" altLang="en-US" u="sng"/>
          </a:p>
        </p:txBody>
      </p:sp>
      <p:sp>
        <p:nvSpPr>
          <p:cNvPr id="42" name="Text Box 41"/>
          <p:cNvSpPr txBox="1"/>
          <p:nvPr/>
        </p:nvSpPr>
        <p:spPr>
          <a:xfrm>
            <a:off x="9043035" y="4226560"/>
            <a:ext cx="11182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军团等级：</a:t>
            </a:r>
            <a:r>
              <a:rPr lang="en-US" altLang="zh-CN" sz="1000"/>
              <a:t>1</a:t>
            </a:r>
            <a:r>
              <a:rPr lang="zh-CN" altLang="en-US" sz="1000"/>
              <a:t>级</a:t>
            </a:r>
            <a:endParaRPr lang="zh-CN" altLang="en-US" sz="1000"/>
          </a:p>
        </p:txBody>
      </p:sp>
      <p:cxnSp>
        <p:nvCxnSpPr>
          <p:cNvPr id="44" name="Elbow Connector 43"/>
          <p:cNvCxnSpPr>
            <a:stCxn id="16" idx="1"/>
            <a:endCxn id="36" idx="1"/>
          </p:cNvCxnSpPr>
          <p:nvPr/>
        </p:nvCxnSpPr>
        <p:spPr>
          <a:xfrm rot="10800000" flipV="1">
            <a:off x="7561580" y="1445895"/>
            <a:ext cx="749300" cy="3558540"/>
          </a:xfrm>
          <a:prstGeom prst="bentConnector3">
            <a:avLst>
              <a:gd name="adj1" fmla="val 13178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004060" y="4138295"/>
            <a:ext cx="3571240" cy="173164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6" name="Text Box 45"/>
          <p:cNvSpPr txBox="1"/>
          <p:nvPr/>
        </p:nvSpPr>
        <p:spPr>
          <a:xfrm>
            <a:off x="2666365" y="4197350"/>
            <a:ext cx="2247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元老院</a:t>
            </a:r>
            <a:r>
              <a:rPr lang="zh-CN" altLang="en-US" u="sng"/>
              <a:t>建议</a:t>
            </a:r>
            <a:endParaRPr lang="zh-CN" altLang="en-US" u="sng"/>
          </a:p>
        </p:txBody>
      </p:sp>
      <p:sp>
        <p:nvSpPr>
          <p:cNvPr id="47" name="Text Box 46"/>
          <p:cNvSpPr txBox="1"/>
          <p:nvPr/>
        </p:nvSpPr>
        <p:spPr>
          <a:xfrm>
            <a:off x="2399665" y="4705350"/>
            <a:ext cx="11811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升级</a:t>
            </a:r>
            <a:r>
              <a:rPr lang="zh-CN" altLang="en-US" sz="1000"/>
              <a:t>农业区</a:t>
            </a:r>
            <a:endParaRPr lang="zh-CN" altLang="en-US" sz="1000"/>
          </a:p>
        </p:txBody>
      </p:sp>
      <p:sp>
        <p:nvSpPr>
          <p:cNvPr id="52" name="Text Box 51"/>
          <p:cNvSpPr txBox="1"/>
          <p:nvPr/>
        </p:nvSpPr>
        <p:spPr>
          <a:xfrm>
            <a:off x="2399665" y="5008880"/>
            <a:ext cx="1784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通过贸易采购更多</a:t>
            </a:r>
            <a:r>
              <a:rPr lang="zh-CN" altLang="en-US" sz="1000"/>
              <a:t>粮食</a:t>
            </a:r>
            <a:endParaRPr lang="zh-CN" altLang="en-US" sz="1000"/>
          </a:p>
        </p:txBody>
      </p:sp>
      <p:sp>
        <p:nvSpPr>
          <p:cNvPr id="71" name="Text Box 70"/>
          <p:cNvSpPr txBox="1"/>
          <p:nvPr/>
        </p:nvSpPr>
        <p:spPr>
          <a:xfrm>
            <a:off x="2399665" y="5335270"/>
            <a:ext cx="1784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裁撤军团，节约</a:t>
            </a:r>
            <a:r>
              <a:rPr lang="zh-CN" altLang="en-US" sz="1000"/>
              <a:t>粮食</a:t>
            </a:r>
            <a:endParaRPr lang="zh-CN" altLang="en-US" sz="1000"/>
          </a:p>
        </p:txBody>
      </p:sp>
      <p:sp>
        <p:nvSpPr>
          <p:cNvPr id="72" name="Rounded Rectangle 71"/>
          <p:cNvSpPr/>
          <p:nvPr/>
        </p:nvSpPr>
        <p:spPr>
          <a:xfrm>
            <a:off x="4184015" y="472503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内政</a:t>
            </a:r>
            <a:r>
              <a:rPr lang="zh-CN" altLang="en-US" sz="1000"/>
              <a:t>顾问</a:t>
            </a:r>
            <a:endParaRPr lang="zh-CN" altLang="en-US" sz="1000"/>
          </a:p>
        </p:txBody>
      </p:sp>
      <p:sp>
        <p:nvSpPr>
          <p:cNvPr id="73" name="Rounded Rectangle 72"/>
          <p:cNvSpPr/>
          <p:nvPr/>
        </p:nvSpPr>
        <p:spPr>
          <a:xfrm>
            <a:off x="4184015" y="502856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外交顾问</a:t>
            </a:r>
            <a:endParaRPr lang="zh-CN" altLang="en-US" sz="1000"/>
          </a:p>
        </p:txBody>
      </p:sp>
      <p:sp>
        <p:nvSpPr>
          <p:cNvPr id="74" name="Rounded Rectangle 73"/>
          <p:cNvSpPr/>
          <p:nvPr/>
        </p:nvSpPr>
        <p:spPr>
          <a:xfrm>
            <a:off x="4184015" y="536130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军事顾问</a:t>
            </a:r>
            <a:endParaRPr lang="zh-CN" altLang="en-US" sz="1000"/>
          </a:p>
        </p:txBody>
      </p:sp>
      <p:sp>
        <p:nvSpPr>
          <p:cNvPr id="3" name="Oval 2"/>
          <p:cNvSpPr/>
          <p:nvPr/>
        </p:nvSpPr>
        <p:spPr>
          <a:xfrm>
            <a:off x="11092815" y="5580380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回合</a:t>
            </a:r>
            <a:r>
              <a:rPr lang="zh-CN" altLang="en-US"/>
              <a:t>结束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483360" y="1289685"/>
            <a:ext cx="9225915" cy="3700780"/>
            <a:chOff x="2277" y="-2322"/>
            <a:chExt cx="6592" cy="7083"/>
          </a:xfrm>
        </p:grpSpPr>
        <p:sp>
          <p:nvSpPr>
            <p:cNvPr id="6" name="Text Box 5"/>
            <p:cNvSpPr txBox="1"/>
            <p:nvPr/>
          </p:nvSpPr>
          <p:spPr>
            <a:xfrm>
              <a:off x="3652" y="1302"/>
              <a:ext cx="4287" cy="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u="sng"/>
                <a:t>回合：公元前</a:t>
              </a:r>
              <a:r>
                <a:rPr lang="en-US" altLang="zh-CN" u="sng"/>
                <a:t>278</a:t>
              </a:r>
              <a:r>
                <a:rPr lang="zh-CN" altLang="en-US" u="sng"/>
                <a:t>年春</a:t>
              </a:r>
              <a:endParaRPr lang="zh-CN" altLang="en-US" u="sng"/>
            </a:p>
          </p:txBody>
        </p:sp>
        <p:sp>
          <p:nvSpPr>
            <p:cNvPr id="2" name="Rounded Rectangle 1"/>
            <p:cNvSpPr/>
            <p:nvPr/>
          </p:nvSpPr>
          <p:spPr>
            <a:xfrm>
              <a:off x="2277" y="-2322"/>
              <a:ext cx="6592" cy="7083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3430" y="-2037"/>
              <a:ext cx="4287" cy="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u="sng"/>
                <a:t>公元前</a:t>
              </a:r>
              <a:r>
                <a:rPr lang="en-US" altLang="zh-CN" u="sng"/>
                <a:t>278</a:t>
              </a:r>
              <a:r>
                <a:rPr lang="zh-CN" altLang="en-US" u="sng"/>
                <a:t>年春</a:t>
              </a:r>
              <a:r>
                <a:rPr lang="en-US" altLang="zh-CN" u="sng"/>
                <a:t> </a:t>
              </a:r>
              <a:r>
                <a:rPr lang="zh-CN" altLang="en-US" u="sng"/>
                <a:t>内政</a:t>
              </a:r>
              <a:endParaRPr lang="zh-CN" altLang="en-US" u="sng"/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graphicFrame>
        <p:nvGraphicFramePr>
          <p:cNvPr id="11" name="Table 10"/>
          <p:cNvGraphicFramePr/>
          <p:nvPr/>
        </p:nvGraphicFramePr>
        <p:xfrm>
          <a:off x="1830705" y="1995805"/>
          <a:ext cx="853059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95"/>
                <a:gridCol w="1384935"/>
                <a:gridCol w="686435"/>
                <a:gridCol w="961390"/>
                <a:gridCol w="743267"/>
                <a:gridCol w="828675"/>
                <a:gridCol w="1437005"/>
                <a:gridCol w="1589088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行省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城镇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等级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收入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余粮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人口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升级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拉丁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罗马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商业区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-6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/>
                        <a:t>20,000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拉丁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亚里米伦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农业区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/>
                        <a:t>4,000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拉丁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阿斯库鲁姆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农业区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/>
                        <a:t>5,000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意大利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贝内文托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农业区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/>
                        <a:t>5,000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合计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3300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/>
                        <a:t>34,000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312275" y="2400935"/>
            <a:ext cx="781050" cy="2870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升级</a:t>
            </a:r>
            <a:endParaRPr lang="zh-CN" altLang="en-US"/>
          </a:p>
        </p:txBody>
      </p:sp>
      <p:sp>
        <p:nvSpPr>
          <p:cNvPr id="14" name="Rounded Rectangle 13"/>
          <p:cNvSpPr/>
          <p:nvPr/>
        </p:nvSpPr>
        <p:spPr>
          <a:xfrm>
            <a:off x="9312275" y="2763520"/>
            <a:ext cx="781050" cy="28702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升级</a:t>
            </a:r>
            <a:endParaRPr lang="zh-CN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9217660" y="3488690"/>
            <a:ext cx="970915" cy="28702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升级</a:t>
            </a:r>
            <a:r>
              <a:rPr lang="zh-CN" altLang="en-US"/>
              <a:t>中</a:t>
            </a:r>
            <a:endParaRPr lang="zh-CN" altLang="en-US"/>
          </a:p>
        </p:txBody>
      </p:sp>
      <p:sp>
        <p:nvSpPr>
          <p:cNvPr id="19" name="Rounded Rectangle 18"/>
          <p:cNvSpPr/>
          <p:nvPr/>
        </p:nvSpPr>
        <p:spPr>
          <a:xfrm>
            <a:off x="9217660" y="3126105"/>
            <a:ext cx="970915" cy="28702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升级</a:t>
            </a:r>
            <a:r>
              <a:rPr lang="zh-CN" altLang="en-US"/>
              <a:t>中</a:t>
            </a:r>
            <a:endParaRPr lang="zh-CN" altLang="en-US"/>
          </a:p>
        </p:txBody>
      </p:sp>
      <p:sp>
        <p:nvSpPr>
          <p:cNvPr id="32" name="Up Ribbon 31"/>
          <p:cNvSpPr/>
          <p:nvPr/>
        </p:nvSpPr>
        <p:spPr>
          <a:xfrm>
            <a:off x="56515" y="3720465"/>
            <a:ext cx="1233170" cy="34544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内政</a:t>
            </a:r>
            <a:endParaRPr lang="zh-CN" altLang="en-US" sz="1000"/>
          </a:p>
        </p:txBody>
      </p:sp>
      <p:sp>
        <p:nvSpPr>
          <p:cNvPr id="33" name="Up Ribbon 32"/>
          <p:cNvSpPr/>
          <p:nvPr/>
        </p:nvSpPr>
        <p:spPr>
          <a:xfrm>
            <a:off x="56515" y="463296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外交</a:t>
            </a:r>
            <a:endParaRPr lang="zh-CN" altLang="zh-CN" sz="1000"/>
          </a:p>
        </p:txBody>
      </p:sp>
      <p:sp>
        <p:nvSpPr>
          <p:cNvPr id="4" name="Up Ribbon 3"/>
          <p:cNvSpPr/>
          <p:nvPr/>
        </p:nvSpPr>
        <p:spPr>
          <a:xfrm>
            <a:off x="56515" y="419735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军政</a:t>
            </a:r>
            <a:endParaRPr lang="zh-CN" altLang="en-US" sz="1000"/>
          </a:p>
        </p:txBody>
      </p:sp>
      <p:sp>
        <p:nvSpPr>
          <p:cNvPr id="28" name="Rounded Rectangle 27"/>
          <p:cNvSpPr/>
          <p:nvPr/>
        </p:nvSpPr>
        <p:spPr>
          <a:xfrm>
            <a:off x="5440680" y="4378960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10983595" y="5268595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回合</a:t>
            </a:r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4669155" y="180340"/>
            <a:ext cx="303149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-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铁血鹰旗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657715" y="921385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点击升级会消耗资金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9" name="Elbow Connector 8"/>
          <p:cNvCxnSpPr>
            <a:stCxn id="8" idx="2"/>
            <a:endCxn id="12" idx="3"/>
          </p:cNvCxnSpPr>
          <p:nvPr/>
        </p:nvCxnSpPr>
        <p:spPr>
          <a:xfrm rot="5400000">
            <a:off x="9808210" y="1574800"/>
            <a:ext cx="1254760" cy="68453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6978015" y="4378960"/>
            <a:ext cx="3383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升级条件（人口</a:t>
            </a:r>
            <a:r>
              <a:rPr lang="zh-CN" altLang="en-US">
                <a:solidFill>
                  <a:schemeClr val="bg1"/>
                </a:solidFill>
              </a:rPr>
              <a:t>或资金）</a:t>
            </a:r>
            <a:r>
              <a:rPr lang="zh-CN" altLang="en-US">
                <a:solidFill>
                  <a:schemeClr val="bg1"/>
                </a:solidFill>
              </a:rPr>
              <a:t>不满足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6" name="Elbow Connector 15"/>
          <p:cNvCxnSpPr>
            <a:stCxn id="15" idx="3"/>
            <a:endCxn id="14" idx="3"/>
          </p:cNvCxnSpPr>
          <p:nvPr/>
        </p:nvCxnSpPr>
        <p:spPr>
          <a:xfrm flipH="1" flipV="1">
            <a:off x="10093325" y="2907030"/>
            <a:ext cx="267970" cy="1656080"/>
          </a:xfrm>
          <a:prstGeom prst="bentConnector3">
            <a:avLst>
              <a:gd name="adj1" fmla="val -8886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Up Ribbon 16"/>
          <p:cNvSpPr/>
          <p:nvPr/>
        </p:nvSpPr>
        <p:spPr>
          <a:xfrm>
            <a:off x="56515" y="505904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战报</a:t>
            </a:r>
            <a:endParaRPr lang="zh-CN" altLang="zh-CN" sz="1000"/>
          </a:p>
        </p:txBody>
      </p:sp>
      <p:sp>
        <p:nvSpPr>
          <p:cNvPr id="20" name="Rectangles 19"/>
          <p:cNvSpPr/>
          <p:nvPr/>
        </p:nvSpPr>
        <p:spPr>
          <a:xfrm>
            <a:off x="24384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人口：</a:t>
            </a:r>
            <a:r>
              <a:rPr lang="en-US" altLang="zh-CN" sz="1000"/>
              <a:t>34,000</a:t>
            </a:r>
            <a:endParaRPr lang="en-US" altLang="zh-CN" sz="1000"/>
          </a:p>
        </p:txBody>
      </p:sp>
      <p:sp>
        <p:nvSpPr>
          <p:cNvPr id="21" name="Rectangles 20"/>
          <p:cNvSpPr/>
          <p:nvPr/>
        </p:nvSpPr>
        <p:spPr>
          <a:xfrm>
            <a:off x="164592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资金：</a:t>
            </a:r>
            <a:r>
              <a:rPr lang="en-US" altLang="zh-CN" sz="1000"/>
              <a:t>5000</a:t>
            </a:r>
            <a:endParaRPr lang="en-US" altLang="zh-CN" sz="1000"/>
          </a:p>
        </p:txBody>
      </p:sp>
      <p:sp>
        <p:nvSpPr>
          <p:cNvPr id="22" name="Rectangles 21"/>
          <p:cNvSpPr/>
          <p:nvPr/>
        </p:nvSpPr>
        <p:spPr>
          <a:xfrm>
            <a:off x="304800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粮食：</a:t>
            </a:r>
            <a:r>
              <a:rPr lang="en-US" altLang="zh-CN" sz="1000"/>
              <a:t>3</a:t>
            </a:r>
            <a:endParaRPr lang="en-US" altLang="zh-CN" sz="1000"/>
          </a:p>
        </p:txBody>
      </p:sp>
      <p:sp>
        <p:nvSpPr>
          <p:cNvPr id="23" name="Text Box 22"/>
          <p:cNvSpPr txBox="1"/>
          <p:nvPr/>
        </p:nvSpPr>
        <p:spPr>
          <a:xfrm>
            <a:off x="3048000" y="548640"/>
            <a:ext cx="52012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粮食不可累积，但是粮食盈余可以确保人口增长</a:t>
            </a:r>
            <a:r>
              <a:rPr lang="en-US" altLang="zh-CN" sz="1000">
                <a:solidFill>
                  <a:schemeClr val="bg1"/>
                </a:solidFill>
              </a:rPr>
              <a:t>1%/</a:t>
            </a:r>
            <a:r>
              <a:rPr lang="zh-CN" altLang="en-US" sz="1000">
                <a:solidFill>
                  <a:schemeClr val="bg1"/>
                </a:solidFill>
              </a:rPr>
              <a:t>回合；粮食不足，人口增长为</a:t>
            </a:r>
            <a:r>
              <a:rPr lang="en-US" altLang="zh-CN" sz="1000">
                <a:solidFill>
                  <a:schemeClr val="bg1"/>
                </a:solidFill>
              </a:rPr>
              <a:t>-5%/</a:t>
            </a:r>
            <a:r>
              <a:rPr lang="zh-CN" altLang="en-US" sz="1000">
                <a:solidFill>
                  <a:schemeClr val="bg1"/>
                </a:solidFill>
              </a:rPr>
              <a:t>回合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只有农业区产粮，商业区和军队消耗</a:t>
            </a:r>
            <a:r>
              <a:rPr lang="zh-CN" altLang="en-US" sz="1000">
                <a:solidFill>
                  <a:schemeClr val="bg1"/>
                </a:solidFill>
              </a:rPr>
              <a:t>粮食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24" name="Up Ribbon 23"/>
          <p:cNvSpPr/>
          <p:nvPr/>
        </p:nvSpPr>
        <p:spPr>
          <a:xfrm>
            <a:off x="56515" y="549402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菜单</a:t>
            </a:r>
            <a:endParaRPr lang="zh-CN" altLang="zh-CN" sz="1000">
              <a:sym typeface="+mn-ea"/>
            </a:endParaRPr>
          </a:p>
        </p:txBody>
      </p:sp>
      <p:sp>
        <p:nvSpPr>
          <p:cNvPr id="25" name="Up Ribbon 24"/>
          <p:cNvSpPr/>
          <p:nvPr/>
        </p:nvSpPr>
        <p:spPr>
          <a:xfrm>
            <a:off x="56515" y="328549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事件</a:t>
            </a:r>
            <a:endParaRPr lang="zh-CN" altLang="zh-CN" sz="10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26210" y="823595"/>
            <a:ext cx="9225915" cy="28117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039745" y="972820"/>
            <a:ext cx="6000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公元前</a:t>
            </a:r>
            <a:r>
              <a:rPr lang="en-US" altLang="zh-CN" u="sng"/>
              <a:t>278</a:t>
            </a:r>
            <a:r>
              <a:rPr lang="zh-CN" altLang="en-US" u="sng"/>
              <a:t>年春</a:t>
            </a:r>
            <a:r>
              <a:rPr lang="en-US" altLang="zh-CN" u="sng"/>
              <a:t> </a:t>
            </a:r>
            <a:r>
              <a:rPr lang="zh-CN" altLang="en-US" u="sng"/>
              <a:t>军事</a:t>
            </a:r>
            <a:endParaRPr lang="zh-CN" altLang="en-US" u="sng"/>
          </a:p>
        </p:txBody>
      </p: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graphicFrame>
        <p:nvGraphicFramePr>
          <p:cNvPr id="11" name="Table 10"/>
          <p:cNvGraphicFramePr/>
          <p:nvPr/>
        </p:nvGraphicFramePr>
        <p:xfrm>
          <a:off x="2125980" y="1357630"/>
          <a:ext cx="7826375" cy="1699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025"/>
                <a:gridCol w="645160"/>
                <a:gridCol w="652780"/>
                <a:gridCol w="563245"/>
                <a:gridCol w="542290"/>
                <a:gridCol w="750570"/>
                <a:gridCol w="626110"/>
                <a:gridCol w="685165"/>
                <a:gridCol w="914400"/>
                <a:gridCol w="628015"/>
                <a:gridCol w="856615"/>
              </a:tblGrid>
              <a:tr h="2787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军团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重步兵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弓箭兵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骑兵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等级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维持费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军粮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兵力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位置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状态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命令</a:t>
                      </a:r>
                      <a:endParaRPr lang="zh-CN" altLang="en-US" sz="1200"/>
                    </a:p>
                  </a:txBody>
                  <a:tcPr/>
                </a:tc>
              </a:tr>
              <a:tr h="27876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5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4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3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-5000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-10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5000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塔兰托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围攻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  <a:tr h="27876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5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3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2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-2500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-5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2500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亚里米伦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设伏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  <a:tr h="30543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3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-1250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-2.5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1250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罗马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行军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  <a:tr h="27876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3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-1250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-2.5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1250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贝内文托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驻扎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  <a:tr h="27876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21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8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-10000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-20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10000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80195" y="1659255"/>
            <a:ext cx="658495" cy="21145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已部署</a:t>
            </a:r>
            <a:endParaRPr lang="zh-CN" altLang="en-US" sz="900"/>
          </a:p>
        </p:txBody>
      </p:sp>
      <p:sp>
        <p:nvSpPr>
          <p:cNvPr id="9" name="Rounded Rectangle 8"/>
          <p:cNvSpPr/>
          <p:nvPr/>
        </p:nvSpPr>
        <p:spPr>
          <a:xfrm>
            <a:off x="9180195" y="1941830"/>
            <a:ext cx="658495" cy="21145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900">
                <a:sym typeface="+mn-ea"/>
              </a:rPr>
              <a:t>已部署</a:t>
            </a:r>
            <a:endParaRPr lang="zh-CN" altLang="en-US" sz="900">
              <a:sym typeface="+mn-e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80195" y="2515235"/>
            <a:ext cx="658495" cy="21145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待部署</a:t>
            </a:r>
            <a:endParaRPr lang="zh-CN" altLang="en-US" sz="900"/>
          </a:p>
        </p:txBody>
      </p:sp>
      <p:sp>
        <p:nvSpPr>
          <p:cNvPr id="16" name="Rounded Rectangle 15"/>
          <p:cNvSpPr/>
          <p:nvPr/>
        </p:nvSpPr>
        <p:spPr>
          <a:xfrm>
            <a:off x="9180195" y="2221230"/>
            <a:ext cx="658495" cy="21145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待部署</a:t>
            </a:r>
            <a:endParaRPr lang="zh-CN" altLang="en-US" sz="900"/>
          </a:p>
        </p:txBody>
      </p:sp>
      <p:grpSp>
        <p:nvGrpSpPr>
          <p:cNvPr id="21" name="Group 20"/>
          <p:cNvGrpSpPr/>
          <p:nvPr/>
        </p:nvGrpSpPr>
        <p:grpSpPr>
          <a:xfrm>
            <a:off x="6409690" y="3837940"/>
            <a:ext cx="4242435" cy="2178050"/>
            <a:chOff x="1272" y="1108"/>
            <a:chExt cx="6592" cy="3430"/>
          </a:xfrm>
        </p:grpSpPr>
        <p:sp>
          <p:nvSpPr>
            <p:cNvPr id="22" name="Rounded Rectangle 21"/>
            <p:cNvSpPr/>
            <p:nvPr/>
          </p:nvSpPr>
          <p:spPr>
            <a:xfrm>
              <a:off x="1272" y="1108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Flowchart: Process 22"/>
            <p:cNvSpPr/>
            <p:nvPr/>
          </p:nvSpPr>
          <p:spPr>
            <a:xfrm>
              <a:off x="3616" y="1936"/>
              <a:ext cx="2996" cy="579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亚雷提恩</a:t>
              </a:r>
              <a:endParaRPr lang="zh-CN" altLang="en-US"/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1827" y="1908"/>
              <a:ext cx="14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目的地</a:t>
              </a:r>
              <a:endParaRPr lang="zh-CN" altLang="en-US"/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2230" y="2715"/>
              <a:ext cx="10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命令</a:t>
              </a:r>
              <a:endParaRPr lang="zh-CN" altLang="en-US"/>
            </a:p>
          </p:txBody>
        </p:sp>
        <p:sp>
          <p:nvSpPr>
            <p:cNvPr id="26" name="Flowchart: Process 25"/>
            <p:cNvSpPr/>
            <p:nvPr/>
          </p:nvSpPr>
          <p:spPr>
            <a:xfrm>
              <a:off x="3616" y="2744"/>
              <a:ext cx="2996" cy="579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围攻</a:t>
              </a:r>
              <a:endParaRPr lang="zh-CN" altLang="en-US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827" y="3494"/>
              <a:ext cx="2067" cy="720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ym typeface="+mn-ea"/>
                </a:rPr>
                <a:t>确认</a:t>
              </a:r>
              <a:endParaRPr lang="zh-CN" altLang="en-US"/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5525770" y="3118485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29" name="Rounded Rectangle 28"/>
          <p:cNvSpPr/>
          <p:nvPr/>
        </p:nvSpPr>
        <p:spPr>
          <a:xfrm>
            <a:off x="8554085" y="5354320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30" name="Text Box 29"/>
          <p:cNvSpPr txBox="1"/>
          <p:nvPr/>
        </p:nvSpPr>
        <p:spPr>
          <a:xfrm>
            <a:off x="7614285" y="3916045"/>
            <a:ext cx="1776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第</a:t>
            </a:r>
            <a:r>
              <a:rPr lang="en-US" altLang="zh-CN" u="sng"/>
              <a:t>3</a:t>
            </a:r>
            <a:r>
              <a:rPr lang="zh-CN" altLang="en-US" u="sng"/>
              <a:t>军团</a:t>
            </a:r>
            <a:r>
              <a:rPr lang="zh-CN" altLang="en-US" u="sng"/>
              <a:t>命令</a:t>
            </a:r>
            <a:endParaRPr lang="zh-CN" altLang="en-US" u="sng"/>
          </a:p>
        </p:txBody>
      </p:sp>
      <p:cxnSp>
        <p:nvCxnSpPr>
          <p:cNvPr id="31" name="Elbow Connector 30"/>
          <p:cNvCxnSpPr>
            <a:stCxn id="16" idx="3"/>
            <a:endCxn id="22" idx="3"/>
          </p:cNvCxnSpPr>
          <p:nvPr/>
        </p:nvCxnSpPr>
        <p:spPr>
          <a:xfrm>
            <a:off x="9838690" y="2327275"/>
            <a:ext cx="813435" cy="2599690"/>
          </a:xfrm>
          <a:prstGeom prst="bentConnector3">
            <a:avLst>
              <a:gd name="adj1" fmla="val 12927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Up Ribbon 31"/>
          <p:cNvSpPr/>
          <p:nvPr/>
        </p:nvSpPr>
        <p:spPr>
          <a:xfrm>
            <a:off x="56515" y="3710940"/>
            <a:ext cx="1233170" cy="34544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内政</a:t>
            </a:r>
            <a:endParaRPr lang="zh-CN" altLang="en-US" sz="1000"/>
          </a:p>
        </p:txBody>
      </p:sp>
      <p:sp>
        <p:nvSpPr>
          <p:cNvPr id="33" name="Up Ribbon 32"/>
          <p:cNvSpPr/>
          <p:nvPr/>
        </p:nvSpPr>
        <p:spPr>
          <a:xfrm>
            <a:off x="56515" y="462343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外交</a:t>
            </a:r>
            <a:endParaRPr lang="zh-CN" altLang="zh-CN" sz="1000"/>
          </a:p>
        </p:txBody>
      </p:sp>
      <p:sp>
        <p:nvSpPr>
          <p:cNvPr id="4" name="Up Ribbon 3"/>
          <p:cNvSpPr/>
          <p:nvPr/>
        </p:nvSpPr>
        <p:spPr>
          <a:xfrm>
            <a:off x="56515" y="4187825"/>
            <a:ext cx="1233170" cy="30353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军政</a:t>
            </a:r>
            <a:endParaRPr lang="zh-CN" altLang="en-US" sz="1000"/>
          </a:p>
        </p:txBody>
      </p:sp>
      <p:sp>
        <p:nvSpPr>
          <p:cNvPr id="5" name="Oval 4"/>
          <p:cNvSpPr/>
          <p:nvPr/>
        </p:nvSpPr>
        <p:spPr>
          <a:xfrm>
            <a:off x="11012170" y="5353050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回合</a:t>
            </a:r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952625" y="3837940"/>
            <a:ext cx="4242435" cy="28244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296160" y="5904230"/>
            <a:ext cx="1330325" cy="4508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确认</a:t>
            </a:r>
            <a:endParaRPr lang="zh-CN" altLang="en-US"/>
          </a:p>
        </p:txBody>
      </p:sp>
      <p:sp>
        <p:nvSpPr>
          <p:cNvPr id="19" name="Rectangles 18"/>
          <p:cNvSpPr/>
          <p:nvPr/>
        </p:nvSpPr>
        <p:spPr>
          <a:xfrm>
            <a:off x="2191385" y="1659255"/>
            <a:ext cx="848360" cy="2305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第</a:t>
            </a:r>
            <a:r>
              <a:rPr lang="en-US" altLang="zh-CN" sz="1000"/>
              <a:t>1</a:t>
            </a:r>
            <a:r>
              <a:rPr lang="zh-CN" altLang="en-US" sz="1000"/>
              <a:t>军团</a:t>
            </a:r>
            <a:endParaRPr lang="zh-CN" altLang="en-US" sz="1000"/>
          </a:p>
        </p:txBody>
      </p:sp>
      <p:sp>
        <p:nvSpPr>
          <p:cNvPr id="20" name="Rectangles 19"/>
          <p:cNvSpPr/>
          <p:nvPr/>
        </p:nvSpPr>
        <p:spPr>
          <a:xfrm>
            <a:off x="2191385" y="1941830"/>
            <a:ext cx="848360" cy="2305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第</a:t>
            </a:r>
            <a:r>
              <a:rPr lang="en-US" altLang="zh-CN" sz="1000"/>
              <a:t>2</a:t>
            </a:r>
            <a:r>
              <a:rPr lang="zh-CN" altLang="en-US" sz="1000"/>
              <a:t>军团</a:t>
            </a:r>
            <a:endParaRPr lang="zh-CN" altLang="en-US" sz="1000"/>
          </a:p>
        </p:txBody>
      </p:sp>
      <p:sp>
        <p:nvSpPr>
          <p:cNvPr id="34" name="Rectangles 33"/>
          <p:cNvSpPr/>
          <p:nvPr/>
        </p:nvSpPr>
        <p:spPr>
          <a:xfrm>
            <a:off x="2191385" y="2221230"/>
            <a:ext cx="848360" cy="2305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第</a:t>
            </a:r>
            <a:r>
              <a:rPr lang="en-US" altLang="zh-CN" sz="1000"/>
              <a:t>3</a:t>
            </a:r>
            <a:r>
              <a:rPr lang="zh-CN" altLang="en-US" sz="1000"/>
              <a:t>军团</a:t>
            </a:r>
            <a:endParaRPr lang="zh-CN" altLang="en-US" sz="1000"/>
          </a:p>
        </p:txBody>
      </p:sp>
      <p:sp>
        <p:nvSpPr>
          <p:cNvPr id="35" name="Rectangles 34"/>
          <p:cNvSpPr/>
          <p:nvPr/>
        </p:nvSpPr>
        <p:spPr>
          <a:xfrm>
            <a:off x="2199640" y="2515235"/>
            <a:ext cx="848360" cy="2305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第</a:t>
            </a:r>
            <a:r>
              <a:rPr lang="en-US" altLang="zh-CN" sz="1000"/>
              <a:t>4</a:t>
            </a:r>
            <a:r>
              <a:rPr lang="zh-CN" altLang="en-US" sz="1000"/>
              <a:t>军团</a:t>
            </a:r>
            <a:endParaRPr lang="zh-CN" altLang="en-US" sz="1000"/>
          </a:p>
        </p:txBody>
      </p:sp>
      <p:graphicFrame>
        <p:nvGraphicFramePr>
          <p:cNvPr id="36" name="Table 35"/>
          <p:cNvGraphicFramePr/>
          <p:nvPr/>
        </p:nvGraphicFramePr>
        <p:xfrm>
          <a:off x="2265680" y="4345940"/>
          <a:ext cx="3784600" cy="1007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</a:tblGrid>
              <a:tr h="584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青年兵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>
                          <a:sym typeface="+mn-ea"/>
                        </a:rPr>
                        <a:t>青年兵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>
                          <a:sym typeface="+mn-ea"/>
                        </a:rPr>
                        <a:t>青年兵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投石兵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轻</a:t>
                      </a:r>
                      <a:r>
                        <a:rPr lang="zh-CN" altLang="en-US" sz="800"/>
                        <a:t>骑兵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</a:tr>
              <a:tr h="422910"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4405630" y="5903595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38" name="Text Box 37"/>
          <p:cNvSpPr txBox="1"/>
          <p:nvPr/>
        </p:nvSpPr>
        <p:spPr>
          <a:xfrm>
            <a:off x="3185795" y="3910330"/>
            <a:ext cx="1776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第</a:t>
            </a:r>
            <a:r>
              <a:rPr lang="en-US" altLang="zh-CN" u="sng"/>
              <a:t>3</a:t>
            </a:r>
            <a:r>
              <a:rPr lang="zh-CN" altLang="en-US" u="sng"/>
              <a:t>军团</a:t>
            </a:r>
            <a:r>
              <a:rPr lang="zh-CN" altLang="en-US" u="sng"/>
              <a:t>配置</a:t>
            </a:r>
            <a:endParaRPr lang="zh-CN" altLang="en-US" u="sng"/>
          </a:p>
        </p:txBody>
      </p:sp>
      <p:cxnSp>
        <p:nvCxnSpPr>
          <p:cNvPr id="39" name="Elbow Connector 38"/>
          <p:cNvCxnSpPr>
            <a:stCxn id="34" idx="1"/>
            <a:endCxn id="7" idx="1"/>
          </p:cNvCxnSpPr>
          <p:nvPr/>
        </p:nvCxnSpPr>
        <p:spPr>
          <a:xfrm rot="10800000" flipV="1">
            <a:off x="1952625" y="2336800"/>
            <a:ext cx="238760" cy="2913380"/>
          </a:xfrm>
          <a:prstGeom prst="bentConnector3">
            <a:avLst>
              <a:gd name="adj1" fmla="val 19973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Box 39"/>
          <p:cNvSpPr txBox="1"/>
          <p:nvPr/>
        </p:nvSpPr>
        <p:spPr>
          <a:xfrm>
            <a:off x="4669155" y="180340"/>
            <a:ext cx="303149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-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铁血鹰旗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sp>
        <p:nvSpPr>
          <p:cNvPr id="41" name="Text Box 40"/>
          <p:cNvSpPr txBox="1"/>
          <p:nvPr/>
        </p:nvSpPr>
        <p:spPr>
          <a:xfrm>
            <a:off x="160020" y="5868670"/>
            <a:ext cx="1485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兵种通过下拉菜单选择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42" name="Elbow Connector 41"/>
          <p:cNvCxnSpPr>
            <a:stCxn id="41" idx="3"/>
            <a:endCxn id="36" idx="2"/>
          </p:cNvCxnSpPr>
          <p:nvPr/>
        </p:nvCxnSpPr>
        <p:spPr>
          <a:xfrm flipV="1">
            <a:off x="1645920" y="5353050"/>
            <a:ext cx="2512060" cy="8382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Box 42"/>
          <p:cNvSpPr txBox="1"/>
          <p:nvPr/>
        </p:nvSpPr>
        <p:spPr>
          <a:xfrm>
            <a:off x="9180195" y="170815"/>
            <a:ext cx="21799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军团已经部署任务，回合结束前可</a:t>
            </a:r>
            <a:r>
              <a:rPr lang="zh-CN" altLang="en-US">
                <a:solidFill>
                  <a:schemeClr val="bg1"/>
                </a:solidFill>
              </a:rPr>
              <a:t>更改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44" name="Elbow Connector 43"/>
          <p:cNvCxnSpPr>
            <a:stCxn id="43" idx="2"/>
            <a:endCxn id="8" idx="3"/>
          </p:cNvCxnSpPr>
          <p:nvPr/>
        </p:nvCxnSpPr>
        <p:spPr>
          <a:xfrm rot="5400000">
            <a:off x="9579928" y="1074738"/>
            <a:ext cx="949325" cy="4318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Box 44"/>
          <p:cNvSpPr txBox="1"/>
          <p:nvPr/>
        </p:nvSpPr>
        <p:spPr>
          <a:xfrm>
            <a:off x="10652125" y="1014095"/>
            <a:ext cx="14801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之前任务已结束，暂未安排新</a:t>
            </a:r>
            <a:r>
              <a:rPr lang="zh-CN" altLang="en-US">
                <a:solidFill>
                  <a:schemeClr val="bg1"/>
                </a:solidFill>
              </a:rPr>
              <a:t>任务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46" name="Elbow Connector 45"/>
          <p:cNvCxnSpPr>
            <a:stCxn id="45" idx="2"/>
            <a:endCxn id="15" idx="3"/>
          </p:cNvCxnSpPr>
          <p:nvPr/>
        </p:nvCxnSpPr>
        <p:spPr>
          <a:xfrm rot="5400000">
            <a:off x="10273030" y="1501140"/>
            <a:ext cx="685165" cy="155384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Box 46"/>
          <p:cNvSpPr txBox="1"/>
          <p:nvPr/>
        </p:nvSpPr>
        <p:spPr>
          <a:xfrm>
            <a:off x="6696075" y="6145530"/>
            <a:ext cx="361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目的地和命令</a:t>
            </a:r>
            <a:r>
              <a:rPr lang="zh-CN" altLang="en-US">
                <a:solidFill>
                  <a:schemeClr val="bg1"/>
                </a:solidFill>
              </a:rPr>
              <a:t>都通过下拉菜单选择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9" name="Up Ribbon 48"/>
          <p:cNvSpPr/>
          <p:nvPr/>
        </p:nvSpPr>
        <p:spPr>
          <a:xfrm>
            <a:off x="56515" y="505904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战报</a:t>
            </a:r>
            <a:endParaRPr lang="zh-CN" altLang="zh-CN" sz="1000"/>
          </a:p>
        </p:txBody>
      </p:sp>
      <p:sp>
        <p:nvSpPr>
          <p:cNvPr id="50" name="Text Box 49"/>
          <p:cNvSpPr txBox="1"/>
          <p:nvPr/>
        </p:nvSpPr>
        <p:spPr>
          <a:xfrm>
            <a:off x="2296160" y="5362575"/>
            <a:ext cx="19208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招募费：</a:t>
            </a:r>
            <a:r>
              <a:rPr lang="en-US" altLang="zh-CN" sz="1200"/>
              <a:t>4000 </a:t>
            </a:r>
            <a:r>
              <a:rPr lang="zh-CN" altLang="en-US" sz="1200"/>
              <a:t>金币</a:t>
            </a:r>
            <a:endParaRPr lang="en-US" altLang="zh-CN" sz="1200"/>
          </a:p>
          <a:p>
            <a:r>
              <a:rPr lang="zh-CN" altLang="en-US" sz="1200"/>
              <a:t>维护费：</a:t>
            </a:r>
            <a:r>
              <a:rPr lang="en-US" altLang="zh-CN" sz="1200"/>
              <a:t>1250 </a:t>
            </a:r>
            <a:r>
              <a:rPr lang="zh-CN" altLang="en-US" sz="1200"/>
              <a:t>金币</a:t>
            </a:r>
            <a:r>
              <a:rPr lang="en-US" altLang="zh-CN" sz="1200"/>
              <a:t>/</a:t>
            </a:r>
            <a:r>
              <a:rPr lang="zh-CN" altLang="en-US" sz="1200"/>
              <a:t>回合</a:t>
            </a:r>
            <a:endParaRPr lang="zh-CN" altLang="en-US" sz="1200"/>
          </a:p>
        </p:txBody>
      </p:sp>
      <p:sp>
        <p:nvSpPr>
          <p:cNvPr id="51" name="Text Box 50"/>
          <p:cNvSpPr txBox="1"/>
          <p:nvPr/>
        </p:nvSpPr>
        <p:spPr>
          <a:xfrm>
            <a:off x="4319905" y="5362575"/>
            <a:ext cx="1875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人口消耗：</a:t>
            </a:r>
            <a:r>
              <a:rPr lang="en-US" altLang="zh-CN" sz="1200"/>
              <a:t>1250 </a:t>
            </a:r>
            <a:r>
              <a:rPr lang="zh-CN" altLang="en-US" sz="1200"/>
              <a:t>公民</a:t>
            </a:r>
            <a:endParaRPr lang="zh-CN" altLang="en-US" sz="1200"/>
          </a:p>
          <a:p>
            <a:r>
              <a:rPr lang="zh-CN" altLang="en-US" sz="1200"/>
              <a:t>粮食消耗：</a:t>
            </a:r>
            <a:r>
              <a:rPr lang="en-US" altLang="zh-CN" sz="1200"/>
              <a:t>2.5</a:t>
            </a:r>
            <a:r>
              <a:rPr lang="zh-CN" altLang="en-US" sz="1200"/>
              <a:t>单位</a:t>
            </a:r>
            <a:r>
              <a:rPr lang="en-US" altLang="zh-CN" sz="1200"/>
              <a:t>/</a:t>
            </a:r>
            <a:r>
              <a:rPr lang="zh-CN" altLang="en-US" sz="1200"/>
              <a:t>回合</a:t>
            </a:r>
            <a:endParaRPr lang="zh-CN" altLang="en-US" sz="1200"/>
          </a:p>
        </p:txBody>
      </p:sp>
      <p:sp>
        <p:nvSpPr>
          <p:cNvPr id="6" name="Rectangles 5"/>
          <p:cNvSpPr/>
          <p:nvPr/>
        </p:nvSpPr>
        <p:spPr>
          <a:xfrm>
            <a:off x="24384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人口：</a:t>
            </a:r>
            <a:r>
              <a:rPr lang="en-US" altLang="zh-CN" sz="1000"/>
              <a:t>34,000</a:t>
            </a:r>
            <a:endParaRPr lang="en-US" altLang="zh-CN" sz="1000"/>
          </a:p>
        </p:txBody>
      </p:sp>
      <p:sp>
        <p:nvSpPr>
          <p:cNvPr id="12" name="Rectangles 11"/>
          <p:cNvSpPr/>
          <p:nvPr/>
        </p:nvSpPr>
        <p:spPr>
          <a:xfrm>
            <a:off x="164592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资金：</a:t>
            </a:r>
            <a:r>
              <a:rPr lang="en-US" altLang="zh-CN" sz="1000"/>
              <a:t>5000</a:t>
            </a:r>
            <a:endParaRPr lang="en-US" altLang="zh-CN" sz="1000"/>
          </a:p>
        </p:txBody>
      </p:sp>
      <p:sp>
        <p:nvSpPr>
          <p:cNvPr id="13" name="Rectangles 12"/>
          <p:cNvSpPr/>
          <p:nvPr/>
        </p:nvSpPr>
        <p:spPr>
          <a:xfrm>
            <a:off x="304800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粮食：</a:t>
            </a:r>
            <a:r>
              <a:rPr lang="en-US" altLang="zh-CN" sz="1000"/>
              <a:t>3</a:t>
            </a:r>
            <a:endParaRPr lang="en-US" altLang="zh-CN" sz="1000"/>
          </a:p>
        </p:txBody>
      </p:sp>
      <p:sp>
        <p:nvSpPr>
          <p:cNvPr id="14" name="Up Ribbon 13"/>
          <p:cNvSpPr/>
          <p:nvPr/>
        </p:nvSpPr>
        <p:spPr>
          <a:xfrm>
            <a:off x="56515" y="549402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菜单</a:t>
            </a:r>
            <a:endParaRPr lang="zh-CN" altLang="zh-CN" sz="1000">
              <a:sym typeface="+mn-ea"/>
            </a:endParaRPr>
          </a:p>
        </p:txBody>
      </p:sp>
      <p:sp>
        <p:nvSpPr>
          <p:cNvPr id="17" name="Flowchart: Merge 16"/>
          <p:cNvSpPr/>
          <p:nvPr/>
        </p:nvSpPr>
        <p:spPr>
          <a:xfrm>
            <a:off x="2371090" y="478218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Flowchart: Merge 47"/>
          <p:cNvSpPr/>
          <p:nvPr/>
        </p:nvSpPr>
        <p:spPr>
          <a:xfrm>
            <a:off x="2714625" y="480060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Flowchart: Merge 52"/>
          <p:cNvSpPr/>
          <p:nvPr/>
        </p:nvSpPr>
        <p:spPr>
          <a:xfrm>
            <a:off x="3112135" y="478218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Flowchart: Merge 53"/>
          <p:cNvSpPr/>
          <p:nvPr/>
        </p:nvSpPr>
        <p:spPr>
          <a:xfrm>
            <a:off x="3455670" y="478218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Flowchart: Merge 54"/>
          <p:cNvSpPr/>
          <p:nvPr/>
        </p:nvSpPr>
        <p:spPr>
          <a:xfrm>
            <a:off x="3870325" y="478218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Flowchart: Merge 55"/>
          <p:cNvSpPr/>
          <p:nvPr/>
        </p:nvSpPr>
        <p:spPr>
          <a:xfrm>
            <a:off x="4300220" y="481139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Flowchart: Merge 56"/>
          <p:cNvSpPr/>
          <p:nvPr/>
        </p:nvSpPr>
        <p:spPr>
          <a:xfrm>
            <a:off x="4643755" y="482981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Flowchart: Merge 57"/>
          <p:cNvSpPr/>
          <p:nvPr/>
        </p:nvSpPr>
        <p:spPr>
          <a:xfrm>
            <a:off x="5041265" y="481139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Flowchart: Merge 58"/>
          <p:cNvSpPr/>
          <p:nvPr/>
        </p:nvSpPr>
        <p:spPr>
          <a:xfrm>
            <a:off x="5384800" y="481139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Flowchart: Merge 59"/>
          <p:cNvSpPr/>
          <p:nvPr/>
        </p:nvSpPr>
        <p:spPr>
          <a:xfrm>
            <a:off x="5799455" y="481139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Flowchart: Merge 60"/>
          <p:cNvSpPr/>
          <p:nvPr/>
        </p:nvSpPr>
        <p:spPr>
          <a:xfrm>
            <a:off x="2371090" y="524446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Flowchart: Merge 61"/>
          <p:cNvSpPr/>
          <p:nvPr/>
        </p:nvSpPr>
        <p:spPr>
          <a:xfrm>
            <a:off x="2714625" y="526288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Flowchart: Merge 62"/>
          <p:cNvSpPr/>
          <p:nvPr/>
        </p:nvSpPr>
        <p:spPr>
          <a:xfrm>
            <a:off x="3112135" y="524446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Flowchart: Merge 63"/>
          <p:cNvSpPr/>
          <p:nvPr/>
        </p:nvSpPr>
        <p:spPr>
          <a:xfrm>
            <a:off x="3455670" y="524446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5" name="Flowchart: Merge 64"/>
          <p:cNvSpPr/>
          <p:nvPr/>
        </p:nvSpPr>
        <p:spPr>
          <a:xfrm>
            <a:off x="3870325" y="524446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Flowchart: Merge 65"/>
          <p:cNvSpPr/>
          <p:nvPr/>
        </p:nvSpPr>
        <p:spPr>
          <a:xfrm>
            <a:off x="4300220" y="525018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Flowchart: Merge 66"/>
          <p:cNvSpPr/>
          <p:nvPr/>
        </p:nvSpPr>
        <p:spPr>
          <a:xfrm>
            <a:off x="4643755" y="526859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8" name="Flowchart: Merge 67"/>
          <p:cNvSpPr/>
          <p:nvPr/>
        </p:nvSpPr>
        <p:spPr>
          <a:xfrm>
            <a:off x="5041265" y="525018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9" name="Flowchart: Merge 68"/>
          <p:cNvSpPr/>
          <p:nvPr/>
        </p:nvSpPr>
        <p:spPr>
          <a:xfrm>
            <a:off x="5384800" y="525018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0" name="Flowchart: Merge 69"/>
          <p:cNvSpPr/>
          <p:nvPr/>
        </p:nvSpPr>
        <p:spPr>
          <a:xfrm>
            <a:off x="5799455" y="525018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Flowchart: Merge 70"/>
          <p:cNvSpPr/>
          <p:nvPr/>
        </p:nvSpPr>
        <p:spPr>
          <a:xfrm>
            <a:off x="9568815" y="454723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Flowchart: Merge 71"/>
          <p:cNvSpPr/>
          <p:nvPr/>
        </p:nvSpPr>
        <p:spPr>
          <a:xfrm>
            <a:off x="9568815" y="505904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Rectangles 51"/>
          <p:cNvSpPr/>
          <p:nvPr/>
        </p:nvSpPr>
        <p:spPr>
          <a:xfrm>
            <a:off x="2199640" y="2826385"/>
            <a:ext cx="848360" cy="23050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新建军团</a:t>
            </a:r>
            <a:endParaRPr lang="zh-CN" altLang="en-US" sz="1000"/>
          </a:p>
        </p:txBody>
      </p:sp>
      <p:sp>
        <p:nvSpPr>
          <p:cNvPr id="73" name="Up Ribbon 72"/>
          <p:cNvSpPr/>
          <p:nvPr/>
        </p:nvSpPr>
        <p:spPr>
          <a:xfrm>
            <a:off x="56515" y="328549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事件</a:t>
            </a:r>
            <a:endParaRPr lang="zh-CN" altLang="zh-CN" sz="10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3000375" y="2479040"/>
            <a:ext cx="4528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回合：公元前</a:t>
            </a:r>
            <a:r>
              <a:rPr lang="en-US" altLang="zh-CN" u="sng"/>
              <a:t>278</a:t>
            </a:r>
            <a:r>
              <a:rPr lang="zh-CN" altLang="en-US" u="sng"/>
              <a:t>年春</a:t>
            </a:r>
            <a:endParaRPr lang="zh-CN" altLang="en-US" u="sng"/>
          </a:p>
        </p:txBody>
      </p:sp>
      <p:sp>
        <p:nvSpPr>
          <p:cNvPr id="2" name="Rounded Rectangle 1"/>
          <p:cNvSpPr/>
          <p:nvPr/>
        </p:nvSpPr>
        <p:spPr>
          <a:xfrm>
            <a:off x="1548130" y="777240"/>
            <a:ext cx="6962775" cy="332613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766060" y="911225"/>
            <a:ext cx="4528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公元前</a:t>
            </a:r>
            <a:r>
              <a:rPr lang="en-US" altLang="zh-CN" u="sng"/>
              <a:t>278</a:t>
            </a:r>
            <a:r>
              <a:rPr lang="zh-CN" altLang="en-US" u="sng"/>
              <a:t>年春</a:t>
            </a:r>
            <a:r>
              <a:rPr lang="en-US" altLang="zh-CN" u="sng"/>
              <a:t> </a:t>
            </a:r>
            <a:r>
              <a:rPr lang="zh-CN" altLang="en-US" u="sng"/>
              <a:t>外交</a:t>
            </a:r>
            <a:endParaRPr lang="zh-CN" altLang="en-US" u="sng"/>
          </a:p>
        </p:txBody>
      </p:sp>
      <p:graphicFrame>
        <p:nvGraphicFramePr>
          <p:cNvPr id="11" name="Table 10"/>
          <p:cNvGraphicFramePr/>
          <p:nvPr/>
        </p:nvGraphicFramePr>
        <p:xfrm>
          <a:off x="2007235" y="1517650"/>
          <a:ext cx="853059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935"/>
                <a:gridCol w="804545"/>
                <a:gridCol w="1219200"/>
                <a:gridCol w="1094740"/>
                <a:gridCol w="894715"/>
                <a:gridCol w="89535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派系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关系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贸易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出使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来使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伊庇鲁斯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在线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叙拉古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离线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迦太基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-500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在线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伊特鲁尼亚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敌对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NPC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" name="Up Ribbon 31"/>
          <p:cNvSpPr/>
          <p:nvPr/>
        </p:nvSpPr>
        <p:spPr>
          <a:xfrm>
            <a:off x="56515" y="3710940"/>
            <a:ext cx="1233170" cy="34544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内政</a:t>
            </a:r>
            <a:endParaRPr lang="zh-CN" altLang="en-US" sz="1000">
              <a:sym typeface="+mn-ea"/>
            </a:endParaRPr>
          </a:p>
        </p:txBody>
      </p:sp>
      <p:sp>
        <p:nvSpPr>
          <p:cNvPr id="33" name="Up Ribbon 32"/>
          <p:cNvSpPr/>
          <p:nvPr/>
        </p:nvSpPr>
        <p:spPr>
          <a:xfrm>
            <a:off x="56515" y="4623435"/>
            <a:ext cx="1233170" cy="30353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外交</a:t>
            </a:r>
            <a:endParaRPr lang="zh-CN" altLang="en-US" sz="1000">
              <a:sym typeface="+mn-ea"/>
            </a:endParaRPr>
          </a:p>
        </p:txBody>
      </p:sp>
      <p:sp>
        <p:nvSpPr>
          <p:cNvPr id="4" name="Up Ribbon 3"/>
          <p:cNvSpPr/>
          <p:nvPr/>
        </p:nvSpPr>
        <p:spPr>
          <a:xfrm>
            <a:off x="56515" y="418782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军政</a:t>
            </a:r>
            <a:endParaRPr lang="zh-CN" altLang="en-US" sz="1000"/>
          </a:p>
        </p:txBody>
      </p:sp>
      <p:sp>
        <p:nvSpPr>
          <p:cNvPr id="28" name="Rounded Rectangle 27"/>
          <p:cNvSpPr/>
          <p:nvPr/>
        </p:nvSpPr>
        <p:spPr>
          <a:xfrm>
            <a:off x="4466590" y="3504565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11208385" y="5767070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回合</a:t>
            </a:r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4669155" y="180340"/>
            <a:ext cx="303149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-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铁血鹰旗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38595" y="1943100"/>
            <a:ext cx="781050" cy="28702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派遣</a:t>
            </a:r>
            <a:endParaRPr lang="zh-CN" altLang="en-US"/>
          </a:p>
        </p:txBody>
      </p:sp>
      <p:sp>
        <p:nvSpPr>
          <p:cNvPr id="9" name="Rounded Rectangle 8"/>
          <p:cNvSpPr/>
          <p:nvPr/>
        </p:nvSpPr>
        <p:spPr>
          <a:xfrm>
            <a:off x="7445375" y="1943100"/>
            <a:ext cx="781050" cy="2870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接见</a:t>
            </a:r>
            <a:endParaRPr lang="zh-CN" altLang="en-US"/>
          </a:p>
        </p:txBody>
      </p:sp>
      <p:sp>
        <p:nvSpPr>
          <p:cNvPr id="15" name="Rounded Rectangle 14"/>
          <p:cNvSpPr/>
          <p:nvPr/>
        </p:nvSpPr>
        <p:spPr>
          <a:xfrm>
            <a:off x="6538595" y="2308225"/>
            <a:ext cx="781050" cy="28702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派遣</a:t>
            </a:r>
            <a:endParaRPr lang="zh-CN" altLang="en-US">
              <a:sym typeface="+mn-ea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38595" y="2673350"/>
            <a:ext cx="781050" cy="28702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派遣</a:t>
            </a:r>
            <a:endParaRPr lang="zh-CN" altLang="en-US">
              <a:sym typeface="+mn-ea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45375" y="2311400"/>
            <a:ext cx="781050" cy="2870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接见</a:t>
            </a:r>
            <a:endParaRPr lang="zh-CN" altLang="en-US"/>
          </a:p>
        </p:txBody>
      </p:sp>
      <p:sp>
        <p:nvSpPr>
          <p:cNvPr id="21" name="Rounded Rectangle 20"/>
          <p:cNvSpPr/>
          <p:nvPr/>
        </p:nvSpPr>
        <p:spPr>
          <a:xfrm>
            <a:off x="7445375" y="2679065"/>
            <a:ext cx="781050" cy="2870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接见</a:t>
            </a:r>
            <a:endParaRPr lang="zh-CN" altLang="en-US"/>
          </a:p>
        </p:txBody>
      </p:sp>
      <p:sp>
        <p:nvSpPr>
          <p:cNvPr id="24" name="Rounded Rectangle 23"/>
          <p:cNvSpPr/>
          <p:nvPr/>
        </p:nvSpPr>
        <p:spPr>
          <a:xfrm>
            <a:off x="1624330" y="4331335"/>
            <a:ext cx="3491230" cy="217424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1967865" y="5838190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确认</a:t>
            </a:r>
            <a:endParaRPr lang="zh-CN" altLang="en-US"/>
          </a:p>
        </p:txBody>
      </p:sp>
      <p:sp>
        <p:nvSpPr>
          <p:cNvPr id="26" name="Rounded Rectangle 25"/>
          <p:cNvSpPr/>
          <p:nvPr/>
        </p:nvSpPr>
        <p:spPr>
          <a:xfrm>
            <a:off x="3421380" y="5838190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27" name="Text Box 26"/>
          <p:cNvSpPr txBox="1"/>
          <p:nvPr/>
        </p:nvSpPr>
        <p:spPr>
          <a:xfrm>
            <a:off x="2592705" y="442849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出使伊庇鲁斯</a:t>
            </a:r>
            <a:endParaRPr lang="zh-CN" altLang="en-US"/>
          </a:p>
        </p:txBody>
      </p:sp>
      <p:sp>
        <p:nvSpPr>
          <p:cNvPr id="29" name="Text Box 28"/>
          <p:cNvSpPr txBox="1"/>
          <p:nvPr/>
        </p:nvSpPr>
        <p:spPr>
          <a:xfrm>
            <a:off x="2364105" y="484759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停战缔结和平</a:t>
            </a:r>
            <a:r>
              <a:rPr lang="zh-CN" altLang="en-US"/>
              <a:t>条约</a:t>
            </a:r>
            <a:endParaRPr lang="zh-CN" altLang="en-US"/>
          </a:p>
        </p:txBody>
      </p:sp>
      <p:sp>
        <p:nvSpPr>
          <p:cNvPr id="35" name="Rounded Rectangle 34"/>
          <p:cNvSpPr/>
          <p:nvPr/>
        </p:nvSpPr>
        <p:spPr>
          <a:xfrm>
            <a:off x="8769350" y="3150235"/>
            <a:ext cx="3161030" cy="217424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Text Box 35"/>
          <p:cNvSpPr txBox="1"/>
          <p:nvPr/>
        </p:nvSpPr>
        <p:spPr>
          <a:xfrm>
            <a:off x="9686925" y="323151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叙拉古</a:t>
            </a:r>
            <a:r>
              <a:rPr lang="zh-CN" altLang="en-US"/>
              <a:t>使团</a:t>
            </a:r>
            <a:endParaRPr lang="zh-CN" altLang="en-US"/>
          </a:p>
        </p:txBody>
      </p:sp>
      <p:graphicFrame>
        <p:nvGraphicFramePr>
          <p:cNvPr id="37" name="Table 36"/>
          <p:cNvGraphicFramePr/>
          <p:nvPr/>
        </p:nvGraphicFramePr>
        <p:xfrm>
          <a:off x="9017000" y="3599815"/>
          <a:ext cx="268795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230"/>
                <a:gridCol w="840740"/>
                <a:gridCol w="895985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要求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条件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回复</a:t>
                      </a: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出售</a:t>
                      </a:r>
                      <a:r>
                        <a:rPr lang="en-US" altLang="zh-CN" sz="1000"/>
                        <a:t>5</a:t>
                      </a:r>
                      <a:r>
                        <a:rPr lang="zh-CN" altLang="en-US" sz="1000"/>
                        <a:t>粮食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/>
                        <a:t>600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结成</a:t>
                      </a:r>
                      <a:r>
                        <a:rPr lang="zh-CN" altLang="en-US" sz="1000"/>
                        <a:t>同盟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对抗</a:t>
                      </a:r>
                      <a:r>
                        <a:rPr lang="zh-CN" altLang="en-US" sz="1000"/>
                        <a:t>迦太基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8" name="Rounded Rectangle 37"/>
          <p:cNvSpPr/>
          <p:nvPr/>
        </p:nvSpPr>
        <p:spPr>
          <a:xfrm>
            <a:off x="10923270" y="3865245"/>
            <a:ext cx="696595" cy="1930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同意</a:t>
            </a:r>
            <a:endParaRPr lang="zh-CN" altLang="en-US" sz="1000">
              <a:sym typeface="+mn-ea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921115" y="4609465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确认</a:t>
            </a:r>
            <a:endParaRPr lang="zh-CN" altLang="en-US"/>
          </a:p>
        </p:txBody>
      </p:sp>
      <p:sp>
        <p:nvSpPr>
          <p:cNvPr id="41" name="Rounded Rectangle 40"/>
          <p:cNvSpPr/>
          <p:nvPr/>
        </p:nvSpPr>
        <p:spPr>
          <a:xfrm>
            <a:off x="10374630" y="4609465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42" name="Rounded Rectangle 41"/>
          <p:cNvSpPr/>
          <p:nvPr/>
        </p:nvSpPr>
        <p:spPr>
          <a:xfrm>
            <a:off x="8769350" y="873125"/>
            <a:ext cx="3161030" cy="208661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Text Box 42"/>
          <p:cNvSpPr txBox="1"/>
          <p:nvPr/>
        </p:nvSpPr>
        <p:spPr>
          <a:xfrm>
            <a:off x="9686925" y="87312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出使迦太基</a:t>
            </a:r>
            <a:endParaRPr lang="zh-CN" altLang="en-US"/>
          </a:p>
        </p:txBody>
      </p:sp>
      <p:graphicFrame>
        <p:nvGraphicFramePr>
          <p:cNvPr id="44" name="Table 43"/>
          <p:cNvGraphicFramePr/>
          <p:nvPr/>
        </p:nvGraphicFramePr>
        <p:xfrm>
          <a:off x="9017000" y="1455420"/>
          <a:ext cx="268795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615"/>
                <a:gridCol w="607695"/>
                <a:gridCol w="613198"/>
                <a:gridCol w="610447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要求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单位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条件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结果</a:t>
                      </a: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采购粮食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5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/>
                        <a:t>800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未知</a:t>
                      </a:r>
                      <a:endParaRPr lang="zh-CN" alt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7" name="Rounded Rectangle 46"/>
          <p:cNvSpPr/>
          <p:nvPr/>
        </p:nvSpPr>
        <p:spPr>
          <a:xfrm>
            <a:off x="9017000" y="2251075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确认</a:t>
            </a:r>
            <a:endParaRPr lang="zh-CN" altLang="en-US"/>
          </a:p>
        </p:txBody>
      </p:sp>
      <p:sp>
        <p:nvSpPr>
          <p:cNvPr id="48" name="Rounded Rectangle 47"/>
          <p:cNvSpPr/>
          <p:nvPr/>
        </p:nvSpPr>
        <p:spPr>
          <a:xfrm>
            <a:off x="10440670" y="2251075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51" name="Rounded Rectangle 50"/>
          <p:cNvSpPr/>
          <p:nvPr/>
        </p:nvSpPr>
        <p:spPr>
          <a:xfrm>
            <a:off x="5255895" y="4354195"/>
            <a:ext cx="3255645" cy="250317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Text Box 51"/>
          <p:cNvSpPr txBox="1"/>
          <p:nvPr/>
        </p:nvSpPr>
        <p:spPr>
          <a:xfrm>
            <a:off x="6173470" y="443547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出使</a:t>
            </a:r>
            <a:r>
              <a:rPr lang="zh-CN" altLang="en-US"/>
              <a:t>叙拉古</a:t>
            </a:r>
            <a:endParaRPr lang="zh-CN" altLang="en-US"/>
          </a:p>
        </p:txBody>
      </p:sp>
      <p:sp>
        <p:nvSpPr>
          <p:cNvPr id="56" name="Rounded Rectangle 55"/>
          <p:cNvSpPr/>
          <p:nvPr/>
        </p:nvSpPr>
        <p:spPr>
          <a:xfrm>
            <a:off x="5630545" y="6224905"/>
            <a:ext cx="1110615" cy="3606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确认</a:t>
            </a:r>
            <a:endParaRPr lang="zh-CN" altLang="en-US"/>
          </a:p>
        </p:txBody>
      </p:sp>
      <p:sp>
        <p:nvSpPr>
          <p:cNvPr id="57" name="Rounded Rectangle 56"/>
          <p:cNvSpPr/>
          <p:nvPr/>
        </p:nvSpPr>
        <p:spPr>
          <a:xfrm>
            <a:off x="7154545" y="6224905"/>
            <a:ext cx="1071880" cy="3606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58" name="Text Box 57"/>
          <p:cNvSpPr txBox="1"/>
          <p:nvPr/>
        </p:nvSpPr>
        <p:spPr>
          <a:xfrm>
            <a:off x="2364105" y="534289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停战</a:t>
            </a:r>
            <a:r>
              <a:rPr lang="zh-CN" altLang="en-US"/>
              <a:t>赔款</a:t>
            </a:r>
            <a:endParaRPr lang="zh-CN" altLang="en-US"/>
          </a:p>
        </p:txBody>
      </p:sp>
      <p:sp>
        <p:nvSpPr>
          <p:cNvPr id="59" name="Rectangles 58"/>
          <p:cNvSpPr/>
          <p:nvPr/>
        </p:nvSpPr>
        <p:spPr>
          <a:xfrm>
            <a:off x="3547745" y="5396865"/>
            <a:ext cx="828040" cy="260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5000</a:t>
            </a:r>
            <a:endParaRPr lang="en-US"/>
          </a:p>
        </p:txBody>
      </p:sp>
      <p:sp>
        <p:nvSpPr>
          <p:cNvPr id="60" name="Text Box 59"/>
          <p:cNvSpPr txBox="1"/>
          <p:nvPr/>
        </p:nvSpPr>
        <p:spPr>
          <a:xfrm>
            <a:off x="5783580" y="4847590"/>
            <a:ext cx="22917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正式宣战</a:t>
            </a:r>
            <a:r>
              <a:rPr lang="en-US" altLang="zh-CN"/>
              <a:t> </a:t>
            </a:r>
            <a:r>
              <a:rPr lang="zh-CN" altLang="en-US"/>
              <a:t>不共戴天！</a:t>
            </a:r>
            <a:endParaRPr lang="zh-CN" altLang="en-US"/>
          </a:p>
        </p:txBody>
      </p:sp>
      <p:sp>
        <p:nvSpPr>
          <p:cNvPr id="64" name="Rounded Rectangle 63"/>
          <p:cNvSpPr/>
          <p:nvPr/>
        </p:nvSpPr>
        <p:spPr>
          <a:xfrm>
            <a:off x="3406140" y="1905000"/>
            <a:ext cx="781050" cy="28702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敌对</a:t>
            </a:r>
            <a:endParaRPr lang="zh-CN" altLang="en-US">
              <a:sym typeface="+mn-ea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3406140" y="2672715"/>
            <a:ext cx="781050" cy="28702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结盟</a:t>
            </a:r>
            <a:endParaRPr lang="zh-CN" altLang="en-US">
              <a:sym typeface="+mn-ea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3421380" y="2296795"/>
            <a:ext cx="781050" cy="28702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中立</a:t>
            </a:r>
            <a:endParaRPr lang="zh-CN" altLang="en-US">
              <a:sym typeface="+mn-ea"/>
            </a:endParaRPr>
          </a:p>
        </p:txBody>
      </p:sp>
      <p:cxnSp>
        <p:nvCxnSpPr>
          <p:cNvPr id="67" name="Elbow Connector 66"/>
          <p:cNvCxnSpPr>
            <a:stCxn id="64" idx="1"/>
            <a:endCxn id="24" idx="1"/>
          </p:cNvCxnSpPr>
          <p:nvPr/>
        </p:nvCxnSpPr>
        <p:spPr>
          <a:xfrm rot="10800000" flipV="1">
            <a:off x="1624330" y="2048510"/>
            <a:ext cx="1781810" cy="3369945"/>
          </a:xfrm>
          <a:prstGeom prst="bentConnector3">
            <a:avLst>
              <a:gd name="adj1" fmla="val 11336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Box 67"/>
          <p:cNvSpPr txBox="1"/>
          <p:nvPr/>
        </p:nvSpPr>
        <p:spPr>
          <a:xfrm>
            <a:off x="5783580" y="5289550"/>
            <a:ext cx="22917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结成同盟</a:t>
            </a:r>
            <a:r>
              <a:rPr lang="en-US" altLang="zh-CN"/>
              <a:t> </a:t>
            </a:r>
            <a:r>
              <a:rPr lang="zh-CN" altLang="en-US"/>
              <a:t>生死与共！</a:t>
            </a:r>
            <a:endParaRPr lang="zh-CN" altLang="en-US"/>
          </a:p>
        </p:txBody>
      </p:sp>
      <p:sp>
        <p:nvSpPr>
          <p:cNvPr id="70" name="Flowchart: Connector 69"/>
          <p:cNvSpPr/>
          <p:nvPr/>
        </p:nvSpPr>
        <p:spPr>
          <a:xfrm>
            <a:off x="5692140" y="4954905"/>
            <a:ext cx="86995" cy="1035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Flowchart: Connector 70"/>
          <p:cNvSpPr/>
          <p:nvPr/>
        </p:nvSpPr>
        <p:spPr>
          <a:xfrm>
            <a:off x="5692140" y="5417820"/>
            <a:ext cx="86995" cy="1035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Up Ribbon 71"/>
          <p:cNvSpPr/>
          <p:nvPr/>
        </p:nvSpPr>
        <p:spPr>
          <a:xfrm>
            <a:off x="56515" y="505904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战报</a:t>
            </a:r>
            <a:endParaRPr lang="zh-CN" altLang="zh-CN" sz="1000"/>
          </a:p>
        </p:txBody>
      </p:sp>
      <p:sp>
        <p:nvSpPr>
          <p:cNvPr id="10" name="Rectangles 9"/>
          <p:cNvSpPr/>
          <p:nvPr/>
        </p:nvSpPr>
        <p:spPr>
          <a:xfrm>
            <a:off x="24384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人口：</a:t>
            </a:r>
            <a:r>
              <a:rPr lang="en-US" altLang="zh-CN" sz="1000"/>
              <a:t>34,000</a:t>
            </a:r>
            <a:endParaRPr lang="en-US" altLang="zh-CN" sz="1000"/>
          </a:p>
        </p:txBody>
      </p:sp>
      <p:sp>
        <p:nvSpPr>
          <p:cNvPr id="12" name="Rectangles 11"/>
          <p:cNvSpPr/>
          <p:nvPr/>
        </p:nvSpPr>
        <p:spPr>
          <a:xfrm>
            <a:off x="164592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资金：</a:t>
            </a:r>
            <a:r>
              <a:rPr lang="en-US" altLang="zh-CN" sz="1000"/>
              <a:t>5000</a:t>
            </a:r>
            <a:endParaRPr lang="en-US" altLang="zh-CN" sz="1000"/>
          </a:p>
        </p:txBody>
      </p:sp>
      <p:sp>
        <p:nvSpPr>
          <p:cNvPr id="22" name="Rectangles 21"/>
          <p:cNvSpPr/>
          <p:nvPr/>
        </p:nvSpPr>
        <p:spPr>
          <a:xfrm>
            <a:off x="304800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粮食：</a:t>
            </a:r>
            <a:r>
              <a:rPr lang="en-US" altLang="zh-CN" sz="1000"/>
              <a:t>3</a:t>
            </a:r>
            <a:endParaRPr lang="en-US" altLang="zh-CN" sz="1000"/>
          </a:p>
        </p:txBody>
      </p:sp>
      <p:cxnSp>
        <p:nvCxnSpPr>
          <p:cNvPr id="13" name="Elbow Connector 12"/>
          <p:cNvCxnSpPr>
            <a:stCxn id="20" idx="3"/>
            <a:endCxn id="35" idx="1"/>
          </p:cNvCxnSpPr>
          <p:nvPr/>
        </p:nvCxnSpPr>
        <p:spPr>
          <a:xfrm>
            <a:off x="8226425" y="2454910"/>
            <a:ext cx="542925" cy="1782445"/>
          </a:xfrm>
          <a:prstGeom prst="bentConnector3">
            <a:avLst>
              <a:gd name="adj1" fmla="val 5005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6" idx="3"/>
            <a:endCxn id="51" idx="1"/>
          </p:cNvCxnSpPr>
          <p:nvPr/>
        </p:nvCxnSpPr>
        <p:spPr>
          <a:xfrm>
            <a:off x="4202430" y="2440305"/>
            <a:ext cx="1053465" cy="3165475"/>
          </a:xfrm>
          <a:prstGeom prst="bentConnector3">
            <a:avLst>
              <a:gd name="adj1" fmla="val 5003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16" idx="3"/>
            <a:endCxn id="42" idx="1"/>
          </p:cNvCxnSpPr>
          <p:nvPr/>
        </p:nvCxnSpPr>
        <p:spPr>
          <a:xfrm flipV="1">
            <a:off x="7319645" y="1916430"/>
            <a:ext cx="1449705" cy="900430"/>
          </a:xfrm>
          <a:prstGeom prst="bentConnector3">
            <a:avLst>
              <a:gd name="adj1" fmla="val 5002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p Ribbon 17"/>
          <p:cNvSpPr/>
          <p:nvPr/>
        </p:nvSpPr>
        <p:spPr>
          <a:xfrm>
            <a:off x="56515" y="549402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菜单</a:t>
            </a:r>
            <a:endParaRPr lang="zh-CN" altLang="zh-CN" sz="1000">
              <a:sym typeface="+mn-ea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23270" y="4103370"/>
            <a:ext cx="696595" cy="19304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拒绝</a:t>
            </a:r>
            <a:endParaRPr lang="zh-CN" altLang="en-US" sz="1000">
              <a:sym typeface="+mn-ea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24460" y="1029335"/>
            <a:ext cx="128333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玩家可以攻击</a:t>
            </a:r>
            <a:r>
              <a:rPr lang="en-US" altLang="zh-CN" sz="1000">
                <a:solidFill>
                  <a:schemeClr val="bg1"/>
                </a:solidFill>
              </a:rPr>
              <a:t>NPC</a:t>
            </a:r>
            <a:r>
              <a:rPr lang="zh-CN" altLang="en-US" sz="1000">
                <a:solidFill>
                  <a:schemeClr val="bg1"/>
                </a:solidFill>
              </a:rPr>
              <a:t>派系夺取领土；如果超过</a:t>
            </a:r>
            <a:r>
              <a:rPr lang="en-US" altLang="zh-CN" sz="1000">
                <a:solidFill>
                  <a:schemeClr val="bg1"/>
                </a:solidFill>
              </a:rPr>
              <a:t>12</a:t>
            </a:r>
            <a:r>
              <a:rPr lang="zh-CN" altLang="en-US" sz="1000">
                <a:solidFill>
                  <a:schemeClr val="bg1"/>
                </a:solidFill>
              </a:rPr>
              <a:t>个回合没有和邻近</a:t>
            </a:r>
            <a:r>
              <a:rPr lang="en-US" altLang="zh-CN" sz="1000">
                <a:solidFill>
                  <a:schemeClr val="bg1"/>
                </a:solidFill>
              </a:rPr>
              <a:t>NPC</a:t>
            </a:r>
            <a:r>
              <a:rPr lang="zh-CN" altLang="en-US" sz="1000">
                <a:solidFill>
                  <a:schemeClr val="bg1"/>
                </a:solidFill>
              </a:rPr>
              <a:t>作战，则</a:t>
            </a:r>
            <a:r>
              <a:rPr lang="en-US" altLang="zh-CN" sz="1000">
                <a:solidFill>
                  <a:schemeClr val="bg1"/>
                </a:solidFill>
              </a:rPr>
              <a:t>NPC</a:t>
            </a:r>
            <a:r>
              <a:rPr lang="zh-CN" altLang="en-US" sz="1000">
                <a:solidFill>
                  <a:schemeClr val="bg1"/>
                </a:solidFill>
              </a:rPr>
              <a:t>会发起一次主动袭击，攻击玩家边境</a:t>
            </a:r>
            <a:r>
              <a:rPr lang="zh-CN" altLang="en-US" sz="1000">
                <a:solidFill>
                  <a:schemeClr val="bg1"/>
                </a:solidFill>
              </a:rPr>
              <a:t>城镇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30" name="Up Ribbon 29"/>
          <p:cNvSpPr/>
          <p:nvPr/>
        </p:nvSpPr>
        <p:spPr>
          <a:xfrm>
            <a:off x="56515" y="328549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事件</a:t>
            </a:r>
            <a:endParaRPr lang="zh-CN" altLang="zh-CN" sz="1000">
              <a:sym typeface="+mn-ea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5878195" y="5657850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针对：</a:t>
            </a:r>
            <a:endParaRPr lang="zh-CN" altLang="en-US"/>
          </a:p>
        </p:txBody>
      </p:sp>
      <p:sp>
        <p:nvSpPr>
          <p:cNvPr id="34" name="Rounded Rectangle 33"/>
          <p:cNvSpPr/>
          <p:nvPr/>
        </p:nvSpPr>
        <p:spPr>
          <a:xfrm>
            <a:off x="6969760" y="5711190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000"/>
              <a:t>迦太基</a:t>
            </a:r>
            <a:endParaRPr lang="zh-CN" altLang="en-US" sz="1000"/>
          </a:p>
        </p:txBody>
      </p:sp>
      <p:sp>
        <p:nvSpPr>
          <p:cNvPr id="39" name="Flowchart: Merge 38"/>
          <p:cNvSpPr/>
          <p:nvPr/>
        </p:nvSpPr>
        <p:spPr>
          <a:xfrm>
            <a:off x="7605395" y="580453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4669155" y="180340"/>
            <a:ext cx="303149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-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铁血鹰旗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sp>
        <p:nvSpPr>
          <p:cNvPr id="32" name="Up Ribbon 31"/>
          <p:cNvSpPr/>
          <p:nvPr/>
        </p:nvSpPr>
        <p:spPr>
          <a:xfrm>
            <a:off x="56515" y="3710940"/>
            <a:ext cx="1233170" cy="34544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内政</a:t>
            </a:r>
            <a:endParaRPr lang="zh-CN" altLang="en-US" sz="1000">
              <a:sym typeface="+mn-ea"/>
            </a:endParaRPr>
          </a:p>
        </p:txBody>
      </p:sp>
      <p:sp>
        <p:nvSpPr>
          <p:cNvPr id="33" name="Up Ribbon 32"/>
          <p:cNvSpPr/>
          <p:nvPr/>
        </p:nvSpPr>
        <p:spPr>
          <a:xfrm>
            <a:off x="56515" y="462343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外交</a:t>
            </a:r>
            <a:endParaRPr lang="zh-CN" altLang="en-US" sz="1000">
              <a:sym typeface="+mn-ea"/>
            </a:endParaRPr>
          </a:p>
        </p:txBody>
      </p:sp>
      <p:sp>
        <p:nvSpPr>
          <p:cNvPr id="3" name="Up Ribbon 2"/>
          <p:cNvSpPr/>
          <p:nvPr/>
        </p:nvSpPr>
        <p:spPr>
          <a:xfrm>
            <a:off x="56515" y="418782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军政</a:t>
            </a:r>
            <a:endParaRPr lang="zh-CN" altLang="en-US" sz="1000"/>
          </a:p>
        </p:txBody>
      </p:sp>
      <p:sp>
        <p:nvSpPr>
          <p:cNvPr id="72" name="Up Ribbon 71"/>
          <p:cNvSpPr/>
          <p:nvPr/>
        </p:nvSpPr>
        <p:spPr>
          <a:xfrm>
            <a:off x="56515" y="5059045"/>
            <a:ext cx="1233170" cy="30353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战报</a:t>
            </a:r>
            <a:endParaRPr lang="zh-CN" altLang="en-US" sz="1000">
              <a:sym typeface="+mn-ea"/>
            </a:endParaRPr>
          </a:p>
        </p:txBody>
      </p:sp>
      <p:sp>
        <p:nvSpPr>
          <p:cNvPr id="5" name="Oval 4"/>
          <p:cNvSpPr/>
          <p:nvPr/>
        </p:nvSpPr>
        <p:spPr>
          <a:xfrm>
            <a:off x="11208385" y="5767070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回合</a:t>
            </a:r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9" name="Rounded Rectangle 8"/>
          <p:cNvSpPr/>
          <p:nvPr/>
        </p:nvSpPr>
        <p:spPr>
          <a:xfrm>
            <a:off x="1010285" y="983615"/>
            <a:ext cx="4185920" cy="295402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2189480" y="1115695"/>
            <a:ext cx="201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战场</a:t>
            </a:r>
            <a:r>
              <a:rPr lang="zh-CN" altLang="en-US"/>
              <a:t>情报</a:t>
            </a:r>
            <a:endParaRPr lang="zh-CN" altLang="en-US"/>
          </a:p>
        </p:txBody>
      </p:sp>
      <p:graphicFrame>
        <p:nvGraphicFramePr>
          <p:cNvPr id="12" name="Table 11"/>
          <p:cNvGraphicFramePr/>
          <p:nvPr/>
        </p:nvGraphicFramePr>
        <p:xfrm>
          <a:off x="1144905" y="1635760"/>
          <a:ext cx="3916680" cy="165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170"/>
                <a:gridCol w="979170"/>
                <a:gridCol w="979170"/>
                <a:gridCol w="979170"/>
              </a:tblGrid>
              <a:tr h="331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军团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任务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地点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结果</a:t>
                      </a:r>
                      <a:endParaRPr lang="zh-CN" altLang="en-US" sz="1000"/>
                    </a:p>
                  </a:txBody>
                  <a:tcPr/>
                </a:tc>
              </a:tr>
              <a:tr h="331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第</a:t>
                      </a:r>
                      <a:r>
                        <a:rPr lang="en-US" altLang="zh-CN" sz="1000"/>
                        <a:t>1</a:t>
                      </a:r>
                      <a:r>
                        <a:rPr lang="zh-CN" altLang="en-US" sz="1000"/>
                        <a:t>军团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围攻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塔兰托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000"/>
                    </a:p>
                  </a:txBody>
                  <a:tcPr/>
                </a:tc>
              </a:tr>
              <a:tr h="331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第</a:t>
                      </a:r>
                      <a:r>
                        <a:rPr lang="en-US" altLang="zh-CN" sz="1000"/>
                        <a:t>2</a:t>
                      </a:r>
                      <a:r>
                        <a:rPr lang="zh-CN" altLang="en-US" sz="1000"/>
                        <a:t>军团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伏击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亚里米伦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000"/>
                    </a:p>
                  </a:txBody>
                  <a:tcPr/>
                </a:tc>
              </a:tr>
              <a:tr h="331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第</a:t>
                      </a:r>
                      <a:r>
                        <a:rPr lang="en-US" altLang="zh-CN" sz="1000"/>
                        <a:t>3</a:t>
                      </a:r>
                      <a:r>
                        <a:rPr lang="zh-CN" altLang="en-US" sz="1000"/>
                        <a:t>军团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被</a:t>
                      </a:r>
                      <a:r>
                        <a:rPr lang="zh-CN" altLang="en-US" sz="1000"/>
                        <a:t>伏击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亚雷提恩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331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第</a:t>
                      </a:r>
                      <a:r>
                        <a:rPr lang="en-US" altLang="zh-CN" sz="1000"/>
                        <a:t>4</a:t>
                      </a:r>
                      <a:r>
                        <a:rPr lang="zh-CN" altLang="en-US" sz="1000"/>
                        <a:t>军团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被</a:t>
                      </a:r>
                      <a:r>
                        <a:rPr lang="zh-CN" altLang="en-US" sz="1000"/>
                        <a:t>围攻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贝内文托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208145" y="1998980"/>
            <a:ext cx="655955" cy="25336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战</a:t>
            </a:r>
            <a:r>
              <a:rPr lang="zh-CN" altLang="en-US" sz="1000">
                <a:sym typeface="+mn-ea"/>
              </a:rPr>
              <a:t>胜</a:t>
            </a:r>
            <a:endParaRPr lang="zh-CN" altLang="en-US" sz="1000">
              <a:sym typeface="+mn-e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08145" y="2338070"/>
            <a:ext cx="655955" cy="25336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</a:t>
            </a:r>
            <a:r>
              <a:rPr lang="zh-CN" altLang="en-US" sz="1000"/>
              <a:t>胜</a:t>
            </a:r>
            <a:endParaRPr lang="zh-CN" altLang="en-US" sz="1000"/>
          </a:p>
        </p:txBody>
      </p:sp>
      <p:sp>
        <p:nvSpPr>
          <p:cNvPr id="16" name="Rounded Rectangle 15"/>
          <p:cNvSpPr/>
          <p:nvPr/>
        </p:nvSpPr>
        <p:spPr>
          <a:xfrm>
            <a:off x="4208145" y="2677160"/>
            <a:ext cx="655955" cy="25336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</a:t>
            </a:r>
            <a:r>
              <a:rPr lang="zh-CN" altLang="en-US" sz="1000"/>
              <a:t>败</a:t>
            </a:r>
            <a:endParaRPr lang="zh-CN" altLang="en-US" sz="1000"/>
          </a:p>
        </p:txBody>
      </p:sp>
      <p:sp>
        <p:nvSpPr>
          <p:cNvPr id="17" name="Rounded Rectangle 16"/>
          <p:cNvSpPr/>
          <p:nvPr/>
        </p:nvSpPr>
        <p:spPr>
          <a:xfrm>
            <a:off x="4208145" y="3016250"/>
            <a:ext cx="655955" cy="2533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战报</a:t>
            </a:r>
            <a:endParaRPr lang="zh-CN" altLang="en-US" sz="1000"/>
          </a:p>
        </p:txBody>
      </p:sp>
      <p:sp>
        <p:nvSpPr>
          <p:cNvPr id="28" name="Rounded Rectangle 27"/>
          <p:cNvSpPr/>
          <p:nvPr/>
        </p:nvSpPr>
        <p:spPr>
          <a:xfrm>
            <a:off x="2492375" y="3385820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5424170" y="918210"/>
            <a:ext cx="3314065" cy="254571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19" name="Text Box 18"/>
          <p:cNvSpPr txBox="1"/>
          <p:nvPr/>
        </p:nvSpPr>
        <p:spPr>
          <a:xfrm>
            <a:off x="6357620" y="1017270"/>
            <a:ext cx="15982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第</a:t>
            </a:r>
            <a:r>
              <a:rPr lang="en-US" altLang="zh-CN" sz="1000"/>
              <a:t>2</a:t>
            </a:r>
            <a:r>
              <a:rPr lang="zh-CN" altLang="en-US" sz="1000"/>
              <a:t>军团战报</a:t>
            </a:r>
            <a:endParaRPr lang="zh-CN" altLang="en-US" sz="1000"/>
          </a:p>
        </p:txBody>
      </p:sp>
      <p:sp>
        <p:nvSpPr>
          <p:cNvPr id="20" name="Rounded Rectangle 19"/>
          <p:cNvSpPr/>
          <p:nvPr/>
        </p:nvSpPr>
        <p:spPr>
          <a:xfrm>
            <a:off x="5970270" y="2949575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提交</a:t>
            </a:r>
            <a:endParaRPr lang="zh-CN" altLang="en-US" sz="1000"/>
          </a:p>
        </p:txBody>
      </p:sp>
      <p:sp>
        <p:nvSpPr>
          <p:cNvPr id="21" name="Rounded Rectangle 20"/>
          <p:cNvSpPr/>
          <p:nvPr/>
        </p:nvSpPr>
        <p:spPr>
          <a:xfrm>
            <a:off x="7270115" y="2949575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取消</a:t>
            </a:r>
            <a:endParaRPr lang="zh-CN" altLang="en-US" sz="1000"/>
          </a:p>
        </p:txBody>
      </p:sp>
      <p:sp>
        <p:nvSpPr>
          <p:cNvPr id="24" name="Text Box 23"/>
          <p:cNvSpPr txBox="1"/>
          <p:nvPr/>
        </p:nvSpPr>
        <p:spPr>
          <a:xfrm>
            <a:off x="5857240" y="135572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结果：</a:t>
            </a:r>
            <a:endParaRPr lang="zh-CN" altLang="en-US" sz="1000"/>
          </a:p>
        </p:txBody>
      </p:sp>
      <p:sp>
        <p:nvSpPr>
          <p:cNvPr id="60" name="Text Box 59"/>
          <p:cNvSpPr txBox="1"/>
          <p:nvPr/>
        </p:nvSpPr>
        <p:spPr>
          <a:xfrm>
            <a:off x="6598285" y="135953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胜利！</a:t>
            </a:r>
            <a:endParaRPr lang="zh-CN" altLang="en-US" sz="1000"/>
          </a:p>
        </p:txBody>
      </p:sp>
      <p:sp>
        <p:nvSpPr>
          <p:cNvPr id="68" name="Text Box 67"/>
          <p:cNvSpPr txBox="1"/>
          <p:nvPr/>
        </p:nvSpPr>
        <p:spPr>
          <a:xfrm>
            <a:off x="7289800" y="135953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战败！</a:t>
            </a:r>
            <a:endParaRPr lang="zh-CN" altLang="en-US" sz="1000"/>
          </a:p>
        </p:txBody>
      </p:sp>
      <p:sp>
        <p:nvSpPr>
          <p:cNvPr id="70" name="Flowchart: Connector 69"/>
          <p:cNvSpPr/>
          <p:nvPr/>
        </p:nvSpPr>
        <p:spPr>
          <a:xfrm>
            <a:off x="6525895" y="1440180"/>
            <a:ext cx="68580" cy="781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71" name="Flowchart: Connector 70"/>
          <p:cNvSpPr/>
          <p:nvPr/>
        </p:nvSpPr>
        <p:spPr>
          <a:xfrm>
            <a:off x="7217410" y="1455420"/>
            <a:ext cx="68580" cy="781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27" name="Text Box 26"/>
          <p:cNvSpPr txBox="1"/>
          <p:nvPr/>
        </p:nvSpPr>
        <p:spPr>
          <a:xfrm>
            <a:off x="5857240" y="166306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我军战损：</a:t>
            </a:r>
            <a:endParaRPr lang="zh-CN" altLang="en-US" sz="1000"/>
          </a:p>
        </p:txBody>
      </p:sp>
      <p:sp>
        <p:nvSpPr>
          <p:cNvPr id="29" name="Text Box 28"/>
          <p:cNvSpPr txBox="1"/>
          <p:nvPr/>
        </p:nvSpPr>
        <p:spPr>
          <a:xfrm>
            <a:off x="5857240" y="195770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敌军战损：</a:t>
            </a:r>
            <a:endParaRPr lang="zh-CN" altLang="en-US" sz="1000"/>
          </a:p>
        </p:txBody>
      </p:sp>
      <p:sp>
        <p:nvSpPr>
          <p:cNvPr id="30" name="Text Box 29"/>
          <p:cNvSpPr txBox="1"/>
          <p:nvPr/>
        </p:nvSpPr>
        <p:spPr>
          <a:xfrm>
            <a:off x="7289800" y="1686560"/>
            <a:ext cx="1000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康复：</a:t>
            </a:r>
            <a:r>
              <a:rPr lang="en-US" altLang="zh-CN" sz="1000"/>
              <a:t>25%</a:t>
            </a:r>
            <a:endParaRPr lang="en-US" altLang="zh-CN" sz="1000"/>
          </a:p>
        </p:txBody>
      </p:sp>
      <p:sp>
        <p:nvSpPr>
          <p:cNvPr id="31" name="Text Box 30"/>
          <p:cNvSpPr txBox="1"/>
          <p:nvPr/>
        </p:nvSpPr>
        <p:spPr>
          <a:xfrm>
            <a:off x="5855335" y="2252345"/>
            <a:ext cx="22847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缴获战利品：</a:t>
            </a:r>
            <a:r>
              <a:rPr lang="en-US" altLang="zh-CN" sz="1000"/>
              <a:t>                      </a:t>
            </a:r>
            <a:r>
              <a:rPr lang="zh-CN" altLang="en-US" sz="1000"/>
              <a:t>金币</a:t>
            </a:r>
            <a:endParaRPr lang="zh-CN" altLang="en-US" sz="1000"/>
          </a:p>
        </p:txBody>
      </p:sp>
      <p:sp>
        <p:nvSpPr>
          <p:cNvPr id="34" name="Rectangles 33"/>
          <p:cNvSpPr/>
          <p:nvPr/>
        </p:nvSpPr>
        <p:spPr>
          <a:xfrm>
            <a:off x="6748145" y="1692275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50%</a:t>
            </a:r>
            <a:endParaRPr lang="en-US" sz="1000"/>
          </a:p>
        </p:txBody>
      </p:sp>
      <p:sp>
        <p:nvSpPr>
          <p:cNvPr id="35" name="Rectangles 34"/>
          <p:cNvSpPr/>
          <p:nvPr/>
        </p:nvSpPr>
        <p:spPr>
          <a:xfrm>
            <a:off x="6748145" y="1998980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70%</a:t>
            </a:r>
            <a:endParaRPr lang="en-US" sz="1000"/>
          </a:p>
        </p:txBody>
      </p:sp>
      <p:sp>
        <p:nvSpPr>
          <p:cNvPr id="36" name="Rectangles 35"/>
          <p:cNvSpPr/>
          <p:nvPr/>
        </p:nvSpPr>
        <p:spPr>
          <a:xfrm>
            <a:off x="6748145" y="2282190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3500</a:t>
            </a:r>
            <a:endParaRPr lang="en-US" sz="1000"/>
          </a:p>
        </p:txBody>
      </p:sp>
      <p:sp>
        <p:nvSpPr>
          <p:cNvPr id="38" name="Rounded Rectangle 37"/>
          <p:cNvSpPr/>
          <p:nvPr/>
        </p:nvSpPr>
        <p:spPr>
          <a:xfrm>
            <a:off x="1085215" y="4055110"/>
            <a:ext cx="3314065" cy="222059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39" name="Text Box 38"/>
          <p:cNvSpPr txBox="1"/>
          <p:nvPr/>
        </p:nvSpPr>
        <p:spPr>
          <a:xfrm>
            <a:off x="2018665" y="4154170"/>
            <a:ext cx="15982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第</a:t>
            </a:r>
            <a:r>
              <a:rPr lang="en-US" altLang="zh-CN" sz="1000"/>
              <a:t>3</a:t>
            </a:r>
            <a:r>
              <a:rPr lang="zh-CN" altLang="en-US" sz="1000"/>
              <a:t>军团战报</a:t>
            </a:r>
            <a:endParaRPr lang="zh-CN" altLang="en-US" sz="1000"/>
          </a:p>
        </p:txBody>
      </p:sp>
      <p:sp>
        <p:nvSpPr>
          <p:cNvPr id="40" name="Rounded Rectangle 39"/>
          <p:cNvSpPr/>
          <p:nvPr/>
        </p:nvSpPr>
        <p:spPr>
          <a:xfrm>
            <a:off x="1618615" y="581152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确认</a:t>
            </a:r>
            <a:endParaRPr lang="zh-CN" altLang="en-US" sz="1000"/>
          </a:p>
        </p:txBody>
      </p:sp>
      <p:sp>
        <p:nvSpPr>
          <p:cNvPr id="41" name="Rounded Rectangle 40"/>
          <p:cNvSpPr/>
          <p:nvPr/>
        </p:nvSpPr>
        <p:spPr>
          <a:xfrm>
            <a:off x="2918460" y="581152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否认</a:t>
            </a:r>
            <a:endParaRPr lang="zh-CN" altLang="en-US" sz="1000"/>
          </a:p>
        </p:txBody>
      </p:sp>
      <p:sp>
        <p:nvSpPr>
          <p:cNvPr id="42" name="Text Box 41"/>
          <p:cNvSpPr txBox="1"/>
          <p:nvPr/>
        </p:nvSpPr>
        <p:spPr>
          <a:xfrm>
            <a:off x="1518285" y="449262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结果：</a:t>
            </a:r>
            <a:endParaRPr lang="zh-CN" altLang="en-US" sz="1000"/>
          </a:p>
        </p:txBody>
      </p:sp>
      <p:sp>
        <p:nvSpPr>
          <p:cNvPr id="44" name="Text Box 43"/>
          <p:cNvSpPr txBox="1"/>
          <p:nvPr/>
        </p:nvSpPr>
        <p:spPr>
          <a:xfrm>
            <a:off x="2398395" y="4492625"/>
            <a:ext cx="8007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战败！</a:t>
            </a:r>
            <a:endParaRPr lang="zh-CN" altLang="en-US" sz="1000"/>
          </a:p>
        </p:txBody>
      </p:sp>
      <p:sp>
        <p:nvSpPr>
          <p:cNvPr id="47" name="Text Box 46"/>
          <p:cNvSpPr txBox="1"/>
          <p:nvPr/>
        </p:nvSpPr>
        <p:spPr>
          <a:xfrm>
            <a:off x="1518285" y="479996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我军战损：</a:t>
            </a:r>
            <a:endParaRPr lang="zh-CN" altLang="en-US" sz="1000"/>
          </a:p>
        </p:txBody>
      </p:sp>
      <p:sp>
        <p:nvSpPr>
          <p:cNvPr id="48" name="Text Box 47"/>
          <p:cNvSpPr txBox="1"/>
          <p:nvPr/>
        </p:nvSpPr>
        <p:spPr>
          <a:xfrm>
            <a:off x="1518285" y="509460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敌军战损：</a:t>
            </a:r>
            <a:endParaRPr lang="zh-CN" altLang="en-US" sz="1000"/>
          </a:p>
        </p:txBody>
      </p:sp>
      <p:sp>
        <p:nvSpPr>
          <p:cNvPr id="49" name="Text Box 48"/>
          <p:cNvSpPr txBox="1"/>
          <p:nvPr/>
        </p:nvSpPr>
        <p:spPr>
          <a:xfrm>
            <a:off x="2950845" y="4823460"/>
            <a:ext cx="1000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康复：</a:t>
            </a:r>
            <a:r>
              <a:rPr lang="en-US" altLang="zh-CN" sz="1000"/>
              <a:t>0</a:t>
            </a:r>
            <a:r>
              <a:rPr lang="en-US" altLang="zh-CN" sz="1000"/>
              <a:t>%</a:t>
            </a:r>
            <a:endParaRPr lang="en-US" altLang="zh-CN" sz="1000"/>
          </a:p>
        </p:txBody>
      </p:sp>
      <p:sp>
        <p:nvSpPr>
          <p:cNvPr id="51" name="Rectangles 50"/>
          <p:cNvSpPr/>
          <p:nvPr/>
        </p:nvSpPr>
        <p:spPr>
          <a:xfrm>
            <a:off x="2409190" y="4829175"/>
            <a:ext cx="541655" cy="2101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70%</a:t>
            </a:r>
            <a:endParaRPr lang="en-US" sz="1000"/>
          </a:p>
        </p:txBody>
      </p:sp>
      <p:sp>
        <p:nvSpPr>
          <p:cNvPr id="52" name="Rectangles 51"/>
          <p:cNvSpPr/>
          <p:nvPr/>
        </p:nvSpPr>
        <p:spPr>
          <a:xfrm>
            <a:off x="2409190" y="5135880"/>
            <a:ext cx="541655" cy="2101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1000">
                <a:sym typeface="+mn-ea"/>
              </a:rPr>
              <a:t>25%</a:t>
            </a:r>
            <a:endParaRPr lang="en-US" sz="1000">
              <a:sym typeface="+mn-ea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1518285" y="5468620"/>
            <a:ext cx="224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损失领土：</a:t>
            </a:r>
            <a:r>
              <a:rPr lang="en-US" altLang="zh-CN" sz="1000"/>
              <a:t>     </a:t>
            </a:r>
            <a:r>
              <a:rPr lang="zh-CN" altLang="en-US" sz="1000"/>
              <a:t>亚雷提恩</a:t>
            </a:r>
            <a:endParaRPr lang="zh-CN" altLang="en-US" sz="1000"/>
          </a:p>
        </p:txBody>
      </p:sp>
      <p:sp>
        <p:nvSpPr>
          <p:cNvPr id="55" name="Rounded Rectangle 54"/>
          <p:cNvSpPr/>
          <p:nvPr/>
        </p:nvSpPr>
        <p:spPr>
          <a:xfrm>
            <a:off x="5499735" y="3710940"/>
            <a:ext cx="3314065" cy="266446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56" name="Text Box 55"/>
          <p:cNvSpPr txBox="1"/>
          <p:nvPr/>
        </p:nvSpPr>
        <p:spPr>
          <a:xfrm>
            <a:off x="6433185" y="3710940"/>
            <a:ext cx="15982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第</a:t>
            </a:r>
            <a:r>
              <a:rPr lang="en-US" altLang="zh-CN" sz="1000"/>
              <a:t>1</a:t>
            </a:r>
            <a:r>
              <a:rPr lang="zh-CN" altLang="en-US" sz="1000"/>
              <a:t>军团战报</a:t>
            </a:r>
            <a:endParaRPr lang="zh-CN" altLang="en-US" sz="1000"/>
          </a:p>
        </p:txBody>
      </p:sp>
      <p:sp>
        <p:nvSpPr>
          <p:cNvPr id="57" name="Rounded Rectangle 56"/>
          <p:cNvSpPr/>
          <p:nvPr/>
        </p:nvSpPr>
        <p:spPr>
          <a:xfrm>
            <a:off x="6040755" y="571373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提交</a:t>
            </a:r>
            <a:endParaRPr lang="zh-CN" altLang="en-US" sz="1000"/>
          </a:p>
        </p:txBody>
      </p:sp>
      <p:sp>
        <p:nvSpPr>
          <p:cNvPr id="58" name="Rounded Rectangle 57"/>
          <p:cNvSpPr/>
          <p:nvPr/>
        </p:nvSpPr>
        <p:spPr>
          <a:xfrm>
            <a:off x="7361555" y="571373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取消</a:t>
            </a:r>
            <a:endParaRPr lang="zh-CN" altLang="en-US" sz="1000"/>
          </a:p>
        </p:txBody>
      </p:sp>
      <p:sp>
        <p:nvSpPr>
          <p:cNvPr id="59" name="Text Box 58"/>
          <p:cNvSpPr txBox="1"/>
          <p:nvPr/>
        </p:nvSpPr>
        <p:spPr>
          <a:xfrm>
            <a:off x="5932805" y="404939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结果：</a:t>
            </a:r>
            <a:endParaRPr lang="zh-CN" altLang="en-US" sz="1000"/>
          </a:p>
        </p:txBody>
      </p:sp>
      <p:sp>
        <p:nvSpPr>
          <p:cNvPr id="61" name="Text Box 60"/>
          <p:cNvSpPr txBox="1"/>
          <p:nvPr/>
        </p:nvSpPr>
        <p:spPr>
          <a:xfrm>
            <a:off x="6673850" y="405320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胜利！</a:t>
            </a:r>
            <a:endParaRPr lang="zh-CN" altLang="en-US" sz="1000"/>
          </a:p>
        </p:txBody>
      </p:sp>
      <p:sp>
        <p:nvSpPr>
          <p:cNvPr id="62" name="Text Box 61"/>
          <p:cNvSpPr txBox="1"/>
          <p:nvPr/>
        </p:nvSpPr>
        <p:spPr>
          <a:xfrm>
            <a:off x="7365365" y="405320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战败！</a:t>
            </a:r>
            <a:endParaRPr lang="zh-CN" altLang="en-US" sz="1000"/>
          </a:p>
        </p:txBody>
      </p:sp>
      <p:sp>
        <p:nvSpPr>
          <p:cNvPr id="63" name="Flowchart: Connector 62"/>
          <p:cNvSpPr/>
          <p:nvPr/>
        </p:nvSpPr>
        <p:spPr>
          <a:xfrm>
            <a:off x="6601460" y="4133850"/>
            <a:ext cx="68580" cy="781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64" name="Flowchart: Connector 63"/>
          <p:cNvSpPr/>
          <p:nvPr/>
        </p:nvSpPr>
        <p:spPr>
          <a:xfrm>
            <a:off x="7292975" y="4149090"/>
            <a:ext cx="68580" cy="781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65" name="Text Box 64"/>
          <p:cNvSpPr txBox="1"/>
          <p:nvPr/>
        </p:nvSpPr>
        <p:spPr>
          <a:xfrm>
            <a:off x="5932805" y="435673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我军战损：</a:t>
            </a:r>
            <a:endParaRPr lang="zh-CN" altLang="en-US" sz="1000"/>
          </a:p>
        </p:txBody>
      </p:sp>
      <p:sp>
        <p:nvSpPr>
          <p:cNvPr id="66" name="Text Box 65"/>
          <p:cNvSpPr txBox="1"/>
          <p:nvPr/>
        </p:nvSpPr>
        <p:spPr>
          <a:xfrm>
            <a:off x="5932805" y="465137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敌军战损：</a:t>
            </a:r>
            <a:endParaRPr lang="zh-CN" altLang="en-US" sz="1000"/>
          </a:p>
        </p:txBody>
      </p:sp>
      <p:sp>
        <p:nvSpPr>
          <p:cNvPr id="67" name="Text Box 66"/>
          <p:cNvSpPr txBox="1"/>
          <p:nvPr/>
        </p:nvSpPr>
        <p:spPr>
          <a:xfrm>
            <a:off x="7365365" y="4380230"/>
            <a:ext cx="1000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康复：</a:t>
            </a:r>
            <a:r>
              <a:rPr lang="en-US" altLang="zh-CN" sz="1000"/>
              <a:t>25%</a:t>
            </a:r>
            <a:endParaRPr lang="en-US" altLang="zh-CN" sz="1000"/>
          </a:p>
        </p:txBody>
      </p:sp>
      <p:sp>
        <p:nvSpPr>
          <p:cNvPr id="69" name="Text Box 68"/>
          <p:cNvSpPr txBox="1"/>
          <p:nvPr/>
        </p:nvSpPr>
        <p:spPr>
          <a:xfrm>
            <a:off x="5930900" y="4946015"/>
            <a:ext cx="22847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缴获战利品：</a:t>
            </a:r>
            <a:r>
              <a:rPr lang="en-US" altLang="zh-CN" sz="1000"/>
              <a:t>                      </a:t>
            </a:r>
            <a:r>
              <a:rPr lang="zh-CN" altLang="en-US" sz="1000"/>
              <a:t>金币</a:t>
            </a:r>
            <a:endParaRPr lang="zh-CN" altLang="en-US" sz="1000"/>
          </a:p>
        </p:txBody>
      </p:sp>
      <p:sp>
        <p:nvSpPr>
          <p:cNvPr id="73" name="Rectangles 72"/>
          <p:cNvSpPr/>
          <p:nvPr/>
        </p:nvSpPr>
        <p:spPr>
          <a:xfrm>
            <a:off x="6823710" y="4385945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50%</a:t>
            </a:r>
            <a:endParaRPr lang="en-US" sz="1000"/>
          </a:p>
        </p:txBody>
      </p:sp>
      <p:sp>
        <p:nvSpPr>
          <p:cNvPr id="74" name="Rectangles 73"/>
          <p:cNvSpPr/>
          <p:nvPr/>
        </p:nvSpPr>
        <p:spPr>
          <a:xfrm>
            <a:off x="6823710" y="4692650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100%</a:t>
            </a:r>
            <a:endParaRPr lang="en-US" sz="1000"/>
          </a:p>
        </p:txBody>
      </p:sp>
      <p:sp>
        <p:nvSpPr>
          <p:cNvPr id="75" name="Rectangles 74"/>
          <p:cNvSpPr/>
          <p:nvPr/>
        </p:nvSpPr>
        <p:spPr>
          <a:xfrm>
            <a:off x="6823710" y="4975860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5000</a:t>
            </a:r>
            <a:endParaRPr lang="en-US" sz="1000"/>
          </a:p>
        </p:txBody>
      </p:sp>
      <p:sp>
        <p:nvSpPr>
          <p:cNvPr id="76" name="Text Box 75"/>
          <p:cNvSpPr txBox="1"/>
          <p:nvPr/>
        </p:nvSpPr>
        <p:spPr>
          <a:xfrm>
            <a:off x="5970270" y="5309235"/>
            <a:ext cx="224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占领领土：</a:t>
            </a:r>
            <a:r>
              <a:rPr lang="en-US" altLang="zh-CN" sz="1000"/>
              <a:t> </a:t>
            </a:r>
            <a:r>
              <a:rPr lang="zh-CN" altLang="en-US" sz="1000"/>
              <a:t>塔兰托</a:t>
            </a:r>
            <a:endParaRPr lang="zh-CN" altLang="en-US" sz="1000"/>
          </a:p>
        </p:txBody>
      </p:sp>
      <p:sp>
        <p:nvSpPr>
          <p:cNvPr id="77" name="Text Box 76"/>
          <p:cNvSpPr txBox="1"/>
          <p:nvPr/>
        </p:nvSpPr>
        <p:spPr>
          <a:xfrm>
            <a:off x="5930900" y="2591435"/>
            <a:ext cx="224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占领领土：</a:t>
            </a:r>
            <a:r>
              <a:rPr lang="en-US" altLang="zh-CN" sz="1000"/>
              <a:t> </a:t>
            </a:r>
            <a:r>
              <a:rPr lang="zh-CN" altLang="en-US" sz="1000"/>
              <a:t>亚里米伦</a:t>
            </a:r>
            <a:endParaRPr lang="zh-CN" altLang="en-US" sz="1000"/>
          </a:p>
        </p:txBody>
      </p:sp>
      <p:sp>
        <p:nvSpPr>
          <p:cNvPr id="79" name="Rounded Rectangle 78"/>
          <p:cNvSpPr/>
          <p:nvPr/>
        </p:nvSpPr>
        <p:spPr>
          <a:xfrm>
            <a:off x="7292975" y="2561590"/>
            <a:ext cx="1016000" cy="3048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上传战报附件</a:t>
            </a:r>
            <a:endParaRPr lang="zh-CN" altLang="en-US" sz="1000"/>
          </a:p>
        </p:txBody>
      </p:sp>
      <p:sp>
        <p:nvSpPr>
          <p:cNvPr id="80" name="Rounded Rectangle 79"/>
          <p:cNvSpPr/>
          <p:nvPr/>
        </p:nvSpPr>
        <p:spPr>
          <a:xfrm>
            <a:off x="7384415" y="5279390"/>
            <a:ext cx="1016000" cy="3048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上传战报附件</a:t>
            </a:r>
            <a:endParaRPr lang="zh-CN" altLang="en-US" sz="1000"/>
          </a:p>
        </p:txBody>
      </p:sp>
      <p:sp>
        <p:nvSpPr>
          <p:cNvPr id="82" name="Text Box 81"/>
          <p:cNvSpPr txBox="1"/>
          <p:nvPr/>
        </p:nvSpPr>
        <p:spPr>
          <a:xfrm>
            <a:off x="1800860" y="637540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被动同步模式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3" name="Text Box 82"/>
          <p:cNvSpPr txBox="1"/>
          <p:nvPr/>
        </p:nvSpPr>
        <p:spPr>
          <a:xfrm>
            <a:off x="6498590" y="637540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主动同步模式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8813800" y="858520"/>
            <a:ext cx="3314065" cy="266446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85" name="Text Box 84"/>
          <p:cNvSpPr txBox="1"/>
          <p:nvPr/>
        </p:nvSpPr>
        <p:spPr>
          <a:xfrm>
            <a:off x="9747250" y="858520"/>
            <a:ext cx="15982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第</a:t>
            </a:r>
            <a:r>
              <a:rPr lang="en-US" altLang="zh-CN" sz="1000"/>
              <a:t>4</a:t>
            </a:r>
            <a:r>
              <a:rPr lang="zh-CN" altLang="en-US" sz="1000"/>
              <a:t>军团战报</a:t>
            </a:r>
            <a:endParaRPr lang="zh-CN" altLang="en-US" sz="1000"/>
          </a:p>
        </p:txBody>
      </p:sp>
      <p:sp>
        <p:nvSpPr>
          <p:cNvPr id="86" name="Rounded Rectangle 85"/>
          <p:cNvSpPr/>
          <p:nvPr/>
        </p:nvSpPr>
        <p:spPr>
          <a:xfrm>
            <a:off x="9354820" y="286131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提交</a:t>
            </a:r>
            <a:endParaRPr lang="zh-CN" altLang="en-US" sz="1000"/>
          </a:p>
        </p:txBody>
      </p:sp>
      <p:sp>
        <p:nvSpPr>
          <p:cNvPr id="87" name="Rounded Rectangle 86"/>
          <p:cNvSpPr/>
          <p:nvPr/>
        </p:nvSpPr>
        <p:spPr>
          <a:xfrm>
            <a:off x="10675620" y="286131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取消</a:t>
            </a:r>
            <a:endParaRPr lang="zh-CN" altLang="en-US" sz="1000"/>
          </a:p>
        </p:txBody>
      </p:sp>
      <p:sp>
        <p:nvSpPr>
          <p:cNvPr id="88" name="Text Box 87"/>
          <p:cNvSpPr txBox="1"/>
          <p:nvPr/>
        </p:nvSpPr>
        <p:spPr>
          <a:xfrm>
            <a:off x="9246870" y="119697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结果：</a:t>
            </a:r>
            <a:endParaRPr lang="zh-CN" altLang="en-US" sz="1000"/>
          </a:p>
        </p:txBody>
      </p:sp>
      <p:sp>
        <p:nvSpPr>
          <p:cNvPr id="89" name="Text Box 88"/>
          <p:cNvSpPr txBox="1"/>
          <p:nvPr/>
        </p:nvSpPr>
        <p:spPr>
          <a:xfrm>
            <a:off x="9987915" y="1200785"/>
            <a:ext cx="793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胜利！</a:t>
            </a:r>
            <a:endParaRPr lang="zh-CN" altLang="en-US" sz="1000"/>
          </a:p>
        </p:txBody>
      </p:sp>
      <p:sp>
        <p:nvSpPr>
          <p:cNvPr id="90" name="Text Box 89"/>
          <p:cNvSpPr txBox="1"/>
          <p:nvPr/>
        </p:nvSpPr>
        <p:spPr>
          <a:xfrm>
            <a:off x="10679430" y="120078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战败！</a:t>
            </a:r>
            <a:endParaRPr lang="zh-CN" altLang="en-US" sz="1000"/>
          </a:p>
        </p:txBody>
      </p:sp>
      <p:sp>
        <p:nvSpPr>
          <p:cNvPr id="91" name="Flowchart: Connector 90"/>
          <p:cNvSpPr/>
          <p:nvPr/>
        </p:nvSpPr>
        <p:spPr>
          <a:xfrm>
            <a:off x="10629900" y="1277620"/>
            <a:ext cx="68580" cy="781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92" name="Flowchart: Connector 91"/>
          <p:cNvSpPr/>
          <p:nvPr/>
        </p:nvSpPr>
        <p:spPr>
          <a:xfrm>
            <a:off x="9934575" y="1277620"/>
            <a:ext cx="68580" cy="781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93" name="Text Box 92"/>
          <p:cNvSpPr txBox="1"/>
          <p:nvPr/>
        </p:nvSpPr>
        <p:spPr>
          <a:xfrm>
            <a:off x="9246870" y="150431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我军战损：</a:t>
            </a:r>
            <a:endParaRPr lang="zh-CN" altLang="en-US" sz="1000"/>
          </a:p>
        </p:txBody>
      </p:sp>
      <p:sp>
        <p:nvSpPr>
          <p:cNvPr id="94" name="Text Box 93"/>
          <p:cNvSpPr txBox="1"/>
          <p:nvPr/>
        </p:nvSpPr>
        <p:spPr>
          <a:xfrm>
            <a:off x="9246870" y="179895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敌军战损：</a:t>
            </a:r>
            <a:endParaRPr lang="zh-CN" altLang="en-US" sz="1000"/>
          </a:p>
        </p:txBody>
      </p:sp>
      <p:sp>
        <p:nvSpPr>
          <p:cNvPr id="95" name="Text Box 94"/>
          <p:cNvSpPr txBox="1"/>
          <p:nvPr/>
        </p:nvSpPr>
        <p:spPr>
          <a:xfrm>
            <a:off x="10679430" y="1527810"/>
            <a:ext cx="1000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康复：</a:t>
            </a:r>
            <a:r>
              <a:rPr lang="en-US" altLang="zh-CN" sz="1000"/>
              <a:t>0</a:t>
            </a:r>
            <a:r>
              <a:rPr lang="en-US" altLang="zh-CN" sz="1000"/>
              <a:t>%</a:t>
            </a:r>
            <a:endParaRPr lang="en-US" altLang="zh-CN" sz="1000"/>
          </a:p>
        </p:txBody>
      </p:sp>
      <p:sp>
        <p:nvSpPr>
          <p:cNvPr id="97" name="Rectangles 96"/>
          <p:cNvSpPr/>
          <p:nvPr/>
        </p:nvSpPr>
        <p:spPr>
          <a:xfrm>
            <a:off x="10137775" y="1533525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70%</a:t>
            </a:r>
            <a:endParaRPr lang="en-US" sz="1000"/>
          </a:p>
        </p:txBody>
      </p:sp>
      <p:sp>
        <p:nvSpPr>
          <p:cNvPr id="98" name="Rectangles 97"/>
          <p:cNvSpPr/>
          <p:nvPr/>
        </p:nvSpPr>
        <p:spPr>
          <a:xfrm>
            <a:off x="10137775" y="1840230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30%</a:t>
            </a:r>
            <a:endParaRPr lang="en-US" sz="1000"/>
          </a:p>
        </p:txBody>
      </p:sp>
      <p:sp>
        <p:nvSpPr>
          <p:cNvPr id="100" name="Text Box 99"/>
          <p:cNvSpPr txBox="1"/>
          <p:nvPr/>
        </p:nvSpPr>
        <p:spPr>
          <a:xfrm>
            <a:off x="9284335" y="2456815"/>
            <a:ext cx="224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损失领土：</a:t>
            </a:r>
            <a:r>
              <a:rPr lang="en-US" altLang="zh-CN" sz="1000"/>
              <a:t> </a:t>
            </a:r>
            <a:r>
              <a:rPr lang="zh-CN" altLang="en-US" sz="1000"/>
              <a:t>贝内文托</a:t>
            </a:r>
            <a:endParaRPr lang="zh-CN" altLang="en-US" sz="1000"/>
          </a:p>
        </p:txBody>
      </p:sp>
      <p:sp>
        <p:nvSpPr>
          <p:cNvPr id="101" name="Rounded Rectangle 100"/>
          <p:cNvSpPr/>
          <p:nvPr/>
        </p:nvSpPr>
        <p:spPr>
          <a:xfrm>
            <a:off x="10698480" y="2426970"/>
            <a:ext cx="1016000" cy="3048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上传战报附件</a:t>
            </a:r>
            <a:endParaRPr lang="zh-CN" altLang="en-US" sz="1000"/>
          </a:p>
        </p:txBody>
      </p:sp>
      <p:sp>
        <p:nvSpPr>
          <p:cNvPr id="102" name="Text Box 101"/>
          <p:cNvSpPr txBox="1"/>
          <p:nvPr/>
        </p:nvSpPr>
        <p:spPr>
          <a:xfrm>
            <a:off x="8215630" y="180340"/>
            <a:ext cx="315023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原则上由战胜方提交战报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战败方如果有歧义可以</a:t>
            </a:r>
            <a:r>
              <a:rPr lang="en-US" altLang="zh-CN" sz="1000">
                <a:solidFill>
                  <a:schemeClr val="bg1"/>
                </a:solidFill>
              </a:rPr>
              <a:t>“</a:t>
            </a:r>
            <a:r>
              <a:rPr lang="zh-CN" altLang="en-US" sz="1000">
                <a:solidFill>
                  <a:schemeClr val="bg1"/>
                </a:solidFill>
              </a:rPr>
              <a:t>否认</a:t>
            </a:r>
            <a:r>
              <a:rPr lang="en-US" altLang="zh-CN" sz="1000">
                <a:solidFill>
                  <a:schemeClr val="bg1"/>
                </a:solidFill>
              </a:rPr>
              <a:t>”</a:t>
            </a:r>
            <a:r>
              <a:rPr lang="zh-CN" altLang="en-US" sz="1000">
                <a:solidFill>
                  <a:schemeClr val="bg1"/>
                </a:solidFill>
              </a:rPr>
              <a:t>并申请仲裁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战果在</a:t>
            </a:r>
            <a:r>
              <a:rPr lang="zh-CN" altLang="en-US" sz="1000">
                <a:solidFill>
                  <a:schemeClr val="bg1"/>
                </a:solidFill>
              </a:rPr>
              <a:t>点击回合结束后，自动</a:t>
            </a:r>
            <a:r>
              <a:rPr lang="zh-CN" altLang="en-US" sz="1000">
                <a:solidFill>
                  <a:schemeClr val="bg1"/>
                </a:solidFill>
              </a:rPr>
              <a:t>确认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9091295" y="4566920"/>
            <a:ext cx="655955" cy="25336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战</a:t>
            </a:r>
            <a:r>
              <a:rPr lang="zh-CN" altLang="en-US" sz="1000">
                <a:sym typeface="+mn-ea"/>
              </a:rPr>
              <a:t>胜</a:t>
            </a:r>
            <a:endParaRPr lang="zh-CN" altLang="en-US" sz="1000">
              <a:sym typeface="+mn-ea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9091295" y="4876165"/>
            <a:ext cx="655955" cy="25336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</a:t>
            </a:r>
            <a:r>
              <a:rPr lang="zh-CN" altLang="en-US" sz="1000"/>
              <a:t>败</a:t>
            </a:r>
            <a:endParaRPr lang="zh-CN" altLang="en-US" sz="1000"/>
          </a:p>
        </p:txBody>
      </p:sp>
      <p:sp>
        <p:nvSpPr>
          <p:cNvPr id="105" name="Rounded Rectangle 104"/>
          <p:cNvSpPr/>
          <p:nvPr/>
        </p:nvSpPr>
        <p:spPr>
          <a:xfrm>
            <a:off x="9091295" y="5215255"/>
            <a:ext cx="655955" cy="2533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战报</a:t>
            </a:r>
            <a:endParaRPr lang="zh-CN" altLang="en-US" sz="1000"/>
          </a:p>
        </p:txBody>
      </p:sp>
      <p:sp>
        <p:nvSpPr>
          <p:cNvPr id="106" name="Text Box 105"/>
          <p:cNvSpPr txBox="1"/>
          <p:nvPr/>
        </p:nvSpPr>
        <p:spPr>
          <a:xfrm>
            <a:off x="9747250" y="4554855"/>
            <a:ext cx="31502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战斗结束，</a:t>
            </a:r>
            <a:r>
              <a:rPr lang="zh-CN" altLang="en-US" sz="1000">
                <a:solidFill>
                  <a:schemeClr val="bg1"/>
                </a:solidFill>
              </a:rPr>
              <a:t>己方已提交</a:t>
            </a:r>
            <a:r>
              <a:rPr lang="zh-CN" altLang="en-US" sz="1000">
                <a:solidFill>
                  <a:schemeClr val="bg1"/>
                </a:solidFill>
              </a:rPr>
              <a:t>战报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07" name="Text Box 106"/>
          <p:cNvSpPr txBox="1"/>
          <p:nvPr/>
        </p:nvSpPr>
        <p:spPr>
          <a:xfrm>
            <a:off x="9747250" y="5219700"/>
            <a:ext cx="31502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战斗未</a:t>
            </a:r>
            <a:r>
              <a:rPr lang="zh-CN" altLang="en-US" sz="1000">
                <a:solidFill>
                  <a:schemeClr val="bg1"/>
                </a:solidFill>
              </a:rPr>
              <a:t>进行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08" name="Text Box 107"/>
          <p:cNvSpPr txBox="1"/>
          <p:nvPr/>
        </p:nvSpPr>
        <p:spPr>
          <a:xfrm>
            <a:off x="9747250" y="4876165"/>
            <a:ext cx="31502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战斗结束，</a:t>
            </a:r>
            <a:r>
              <a:rPr lang="zh-CN" altLang="en-US" sz="1000">
                <a:solidFill>
                  <a:schemeClr val="bg1"/>
                </a:solidFill>
              </a:rPr>
              <a:t>对方已提交</a:t>
            </a:r>
            <a:r>
              <a:rPr lang="zh-CN" altLang="en-US" sz="1000">
                <a:solidFill>
                  <a:schemeClr val="bg1"/>
                </a:solidFill>
              </a:rPr>
              <a:t>战报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4384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人口：</a:t>
            </a:r>
            <a:r>
              <a:rPr lang="en-US" altLang="zh-CN" sz="1000"/>
              <a:t>34,000</a:t>
            </a:r>
            <a:endParaRPr lang="en-US" altLang="zh-CN" sz="1000"/>
          </a:p>
        </p:txBody>
      </p:sp>
      <p:sp>
        <p:nvSpPr>
          <p:cNvPr id="6" name="Rectangles 5"/>
          <p:cNvSpPr/>
          <p:nvPr/>
        </p:nvSpPr>
        <p:spPr>
          <a:xfrm>
            <a:off x="164592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资金：</a:t>
            </a:r>
            <a:r>
              <a:rPr lang="en-US" altLang="zh-CN" sz="1000"/>
              <a:t>5000</a:t>
            </a:r>
            <a:endParaRPr lang="en-US" altLang="zh-CN" sz="1000"/>
          </a:p>
        </p:txBody>
      </p:sp>
      <p:sp>
        <p:nvSpPr>
          <p:cNvPr id="22" name="Rectangles 21"/>
          <p:cNvSpPr/>
          <p:nvPr/>
        </p:nvSpPr>
        <p:spPr>
          <a:xfrm>
            <a:off x="304800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粮食：</a:t>
            </a:r>
            <a:r>
              <a:rPr lang="en-US" altLang="zh-CN" sz="1000"/>
              <a:t>3</a:t>
            </a:r>
            <a:endParaRPr lang="en-US" altLang="zh-CN" sz="1000"/>
          </a:p>
        </p:txBody>
      </p:sp>
      <p:cxnSp>
        <p:nvCxnSpPr>
          <p:cNvPr id="7" name="Elbow Connector 6"/>
          <p:cNvCxnSpPr>
            <a:stCxn id="15" idx="3"/>
            <a:endCxn id="18" idx="1"/>
          </p:cNvCxnSpPr>
          <p:nvPr/>
        </p:nvCxnSpPr>
        <p:spPr>
          <a:xfrm flipV="1">
            <a:off x="4864100" y="2191385"/>
            <a:ext cx="560070" cy="27368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14" idx="3"/>
            <a:endCxn id="55" idx="1"/>
          </p:cNvCxnSpPr>
          <p:nvPr/>
        </p:nvCxnSpPr>
        <p:spPr>
          <a:xfrm>
            <a:off x="4864100" y="2125980"/>
            <a:ext cx="635635" cy="2917190"/>
          </a:xfrm>
          <a:prstGeom prst="bentConnector3">
            <a:avLst>
              <a:gd name="adj1" fmla="val 50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16" idx="1"/>
            <a:endCxn id="38" idx="0"/>
          </p:cNvCxnSpPr>
          <p:nvPr/>
        </p:nvCxnSpPr>
        <p:spPr>
          <a:xfrm rot="10800000" flipV="1">
            <a:off x="2742565" y="2804160"/>
            <a:ext cx="1465580" cy="125095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7" idx="3"/>
            <a:endCxn id="84" idx="1"/>
          </p:cNvCxnSpPr>
          <p:nvPr/>
        </p:nvCxnSpPr>
        <p:spPr>
          <a:xfrm flipV="1">
            <a:off x="4864100" y="2190750"/>
            <a:ext cx="3949700" cy="9525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Up Ribbon 24"/>
          <p:cNvSpPr/>
          <p:nvPr/>
        </p:nvSpPr>
        <p:spPr>
          <a:xfrm>
            <a:off x="56515" y="549402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菜单</a:t>
            </a:r>
            <a:endParaRPr lang="zh-CN" altLang="zh-CN" sz="1000">
              <a:sym typeface="+mn-ea"/>
            </a:endParaRPr>
          </a:p>
        </p:txBody>
      </p:sp>
      <p:sp>
        <p:nvSpPr>
          <p:cNvPr id="26" name="Up Ribbon 25"/>
          <p:cNvSpPr/>
          <p:nvPr/>
        </p:nvSpPr>
        <p:spPr>
          <a:xfrm>
            <a:off x="56515" y="328549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事件</a:t>
            </a:r>
            <a:endParaRPr lang="zh-CN" altLang="zh-CN" sz="10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4669155" y="180340"/>
            <a:ext cx="303149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-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铁血鹰旗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97535" y="1007745"/>
            <a:ext cx="2557145" cy="3462020"/>
            <a:chOff x="2665" y="-2137"/>
            <a:chExt cx="6592" cy="3430"/>
          </a:xfrm>
        </p:grpSpPr>
        <p:sp>
          <p:nvSpPr>
            <p:cNvPr id="5" name="Rounded Rectangle 4"/>
            <p:cNvSpPr/>
            <p:nvPr/>
          </p:nvSpPr>
          <p:spPr>
            <a:xfrm>
              <a:off x="2665" y="-2137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4462" y="-1975"/>
              <a:ext cx="3179" cy="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菜单</a:t>
              </a:r>
              <a:r>
                <a:rPr lang="zh-CN" altLang="en-US"/>
                <a:t>功能</a:t>
              </a:r>
              <a:endParaRPr lang="zh-CN" altLang="en-US"/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1454150" y="179387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退出</a:t>
            </a:r>
            <a:r>
              <a:rPr lang="zh-CN" altLang="en-US" sz="1000"/>
              <a:t>游戏</a:t>
            </a:r>
            <a:endParaRPr lang="zh-CN" altLang="en-US" sz="1000"/>
          </a:p>
        </p:txBody>
      </p:sp>
      <p:sp>
        <p:nvSpPr>
          <p:cNvPr id="12" name="Rounded Rectangle 11"/>
          <p:cNvSpPr/>
          <p:nvPr/>
        </p:nvSpPr>
        <p:spPr>
          <a:xfrm>
            <a:off x="1454150" y="2284730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踢</a:t>
            </a:r>
            <a:r>
              <a:rPr lang="zh-CN" altLang="en-US" sz="1000"/>
              <a:t>掉玩家</a:t>
            </a:r>
            <a:endParaRPr lang="zh-CN" altLang="en-US" sz="1000"/>
          </a:p>
        </p:txBody>
      </p:sp>
      <p:sp>
        <p:nvSpPr>
          <p:cNvPr id="14" name="Rounded Rectangle 13"/>
          <p:cNvSpPr/>
          <p:nvPr/>
        </p:nvSpPr>
        <p:spPr>
          <a:xfrm>
            <a:off x="1454150" y="277558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战报仲裁</a:t>
            </a:r>
            <a:endParaRPr lang="zh-CN" altLang="en-US" sz="1000"/>
          </a:p>
        </p:txBody>
      </p:sp>
      <p:sp>
        <p:nvSpPr>
          <p:cNvPr id="15" name="Rounded Rectangle 14"/>
          <p:cNvSpPr/>
          <p:nvPr/>
        </p:nvSpPr>
        <p:spPr>
          <a:xfrm>
            <a:off x="1454150" y="375729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回到</a:t>
            </a:r>
            <a:r>
              <a:rPr lang="zh-CN" altLang="en-US" sz="1000"/>
              <a:t>游戏</a:t>
            </a:r>
            <a:endParaRPr lang="zh-CN" altLang="en-US" sz="1000"/>
          </a:p>
        </p:txBody>
      </p:sp>
      <p:sp>
        <p:nvSpPr>
          <p:cNvPr id="16" name="Rounded Rectangle 15"/>
          <p:cNvSpPr/>
          <p:nvPr/>
        </p:nvSpPr>
        <p:spPr>
          <a:xfrm>
            <a:off x="1454150" y="3266440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认输</a:t>
            </a:r>
            <a:r>
              <a:rPr lang="zh-CN" altLang="en-US" sz="1000"/>
              <a:t>投降</a:t>
            </a:r>
            <a:endParaRPr lang="zh-CN" altLang="en-US" sz="1000"/>
          </a:p>
        </p:txBody>
      </p:sp>
      <p:grpSp>
        <p:nvGrpSpPr>
          <p:cNvPr id="17" name="Group 16"/>
          <p:cNvGrpSpPr/>
          <p:nvPr/>
        </p:nvGrpSpPr>
        <p:grpSpPr>
          <a:xfrm>
            <a:off x="9050655" y="916305"/>
            <a:ext cx="2557145" cy="2350135"/>
            <a:chOff x="2665" y="-2137"/>
            <a:chExt cx="6592" cy="3430"/>
          </a:xfrm>
        </p:grpSpPr>
        <p:sp>
          <p:nvSpPr>
            <p:cNvPr id="18" name="Rounded Rectangle 17"/>
            <p:cNvSpPr/>
            <p:nvPr/>
          </p:nvSpPr>
          <p:spPr>
            <a:xfrm>
              <a:off x="2665" y="-2137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4462" y="-1975"/>
              <a:ext cx="3179" cy="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菜单</a:t>
              </a:r>
              <a:r>
                <a:rPr lang="zh-CN" altLang="en-US"/>
                <a:t>功能</a:t>
              </a:r>
              <a:endParaRPr lang="zh-CN" altLang="en-US"/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9872345" y="170243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退出</a:t>
            </a:r>
            <a:r>
              <a:rPr lang="zh-CN" altLang="en-US" sz="1000"/>
              <a:t>游戏</a:t>
            </a:r>
            <a:endParaRPr lang="zh-CN" altLang="en-US" sz="1000"/>
          </a:p>
        </p:txBody>
      </p:sp>
      <p:sp>
        <p:nvSpPr>
          <p:cNvPr id="23" name="Rounded Rectangle 22"/>
          <p:cNvSpPr/>
          <p:nvPr/>
        </p:nvSpPr>
        <p:spPr>
          <a:xfrm>
            <a:off x="9872345" y="273621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回到</a:t>
            </a:r>
            <a:r>
              <a:rPr lang="zh-CN" altLang="en-US" sz="1000"/>
              <a:t>游戏</a:t>
            </a:r>
            <a:endParaRPr lang="zh-CN" altLang="en-US" sz="1000"/>
          </a:p>
        </p:txBody>
      </p:sp>
      <p:sp>
        <p:nvSpPr>
          <p:cNvPr id="24" name="Rounded Rectangle 23"/>
          <p:cNvSpPr/>
          <p:nvPr/>
        </p:nvSpPr>
        <p:spPr>
          <a:xfrm>
            <a:off x="9872345" y="221932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认输</a:t>
            </a:r>
            <a:r>
              <a:rPr lang="zh-CN" altLang="en-US" sz="1000"/>
              <a:t>投降</a:t>
            </a:r>
            <a:endParaRPr lang="zh-CN" altLang="en-US" sz="1000"/>
          </a:p>
        </p:txBody>
      </p:sp>
      <p:sp>
        <p:nvSpPr>
          <p:cNvPr id="25" name="Text Box 24"/>
          <p:cNvSpPr txBox="1"/>
          <p:nvPr/>
        </p:nvSpPr>
        <p:spPr>
          <a:xfrm>
            <a:off x="1362710" y="473900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主机玩家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9872345" y="343789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其他玩家</a:t>
            </a: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3742690" y="1007745"/>
            <a:ext cx="2557145" cy="1617345"/>
            <a:chOff x="2665" y="-2137"/>
            <a:chExt cx="6592" cy="3430"/>
          </a:xfrm>
        </p:grpSpPr>
        <p:sp>
          <p:nvSpPr>
            <p:cNvPr id="28" name="Rounded Rectangle 27"/>
            <p:cNvSpPr/>
            <p:nvPr/>
          </p:nvSpPr>
          <p:spPr>
            <a:xfrm>
              <a:off x="2665" y="-2137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9" name="Text Box 28"/>
            <p:cNvSpPr txBox="1"/>
            <p:nvPr/>
          </p:nvSpPr>
          <p:spPr>
            <a:xfrm>
              <a:off x="4462" y="-1975"/>
              <a:ext cx="3179" cy="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踢掉</a:t>
              </a:r>
              <a:r>
                <a:rPr lang="zh-CN" altLang="en-US"/>
                <a:t>玩家</a:t>
              </a:r>
              <a:endParaRPr lang="zh-CN" altLang="en-US"/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5187315" y="153987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000"/>
              <a:t>埃提乌斯</a:t>
            </a:r>
            <a:endParaRPr lang="zh-CN" altLang="en-US" sz="1000"/>
          </a:p>
        </p:txBody>
      </p:sp>
      <p:sp>
        <p:nvSpPr>
          <p:cNvPr id="31" name="Rounded Rectangle 30"/>
          <p:cNvSpPr/>
          <p:nvPr/>
        </p:nvSpPr>
        <p:spPr>
          <a:xfrm>
            <a:off x="5187315" y="212280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关闭</a:t>
            </a:r>
            <a:endParaRPr lang="zh-CN" altLang="en-US" sz="1000"/>
          </a:p>
        </p:txBody>
      </p:sp>
      <p:sp>
        <p:nvSpPr>
          <p:cNvPr id="32" name="Rounded Rectangle 31"/>
          <p:cNvSpPr/>
          <p:nvPr/>
        </p:nvSpPr>
        <p:spPr>
          <a:xfrm>
            <a:off x="4064635" y="2127250"/>
            <a:ext cx="914400" cy="26289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踢掉</a:t>
            </a:r>
            <a:endParaRPr lang="zh-CN" altLang="en-US" sz="1000"/>
          </a:p>
        </p:txBody>
      </p:sp>
      <p:sp>
        <p:nvSpPr>
          <p:cNvPr id="34" name="Text Box 33"/>
          <p:cNvSpPr txBox="1"/>
          <p:nvPr/>
        </p:nvSpPr>
        <p:spPr>
          <a:xfrm>
            <a:off x="4101465" y="1557655"/>
            <a:ext cx="8401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选择玩家</a:t>
            </a:r>
            <a:endParaRPr lang="zh-CN" altLang="en-US" sz="1000"/>
          </a:p>
        </p:txBody>
      </p:sp>
      <p:grpSp>
        <p:nvGrpSpPr>
          <p:cNvPr id="35" name="Group 34"/>
          <p:cNvGrpSpPr/>
          <p:nvPr/>
        </p:nvGrpSpPr>
        <p:grpSpPr>
          <a:xfrm>
            <a:off x="3778250" y="2852420"/>
            <a:ext cx="3495675" cy="2029460"/>
            <a:chOff x="2665" y="-2137"/>
            <a:chExt cx="6592" cy="3430"/>
          </a:xfrm>
        </p:grpSpPr>
        <p:sp>
          <p:nvSpPr>
            <p:cNvPr id="36" name="Rounded Rectangle 35"/>
            <p:cNvSpPr/>
            <p:nvPr/>
          </p:nvSpPr>
          <p:spPr>
            <a:xfrm>
              <a:off x="2665" y="-2137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7" name="Text Box 36"/>
            <p:cNvSpPr txBox="1"/>
            <p:nvPr/>
          </p:nvSpPr>
          <p:spPr>
            <a:xfrm>
              <a:off x="4462" y="-1975"/>
              <a:ext cx="3179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战报</a:t>
              </a:r>
              <a:r>
                <a:rPr lang="zh-CN" altLang="en-US"/>
                <a:t>仲裁</a:t>
              </a:r>
              <a:endParaRPr lang="zh-CN" altLang="en-US"/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5888355" y="3959860"/>
            <a:ext cx="914400" cy="26289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埃提乌斯</a:t>
            </a:r>
            <a:endParaRPr lang="zh-CN" altLang="en-US" sz="1000"/>
          </a:p>
        </p:txBody>
      </p:sp>
      <p:sp>
        <p:nvSpPr>
          <p:cNvPr id="39" name="Rounded Rectangle 38"/>
          <p:cNvSpPr/>
          <p:nvPr/>
        </p:nvSpPr>
        <p:spPr>
          <a:xfrm>
            <a:off x="5116830" y="4390390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关闭</a:t>
            </a:r>
            <a:endParaRPr lang="zh-CN" altLang="en-US" sz="1000"/>
          </a:p>
        </p:txBody>
      </p:sp>
      <p:sp>
        <p:nvSpPr>
          <p:cNvPr id="41" name="Text Box 40"/>
          <p:cNvSpPr txBox="1"/>
          <p:nvPr/>
        </p:nvSpPr>
        <p:spPr>
          <a:xfrm>
            <a:off x="4381500" y="3611245"/>
            <a:ext cx="203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请选择裁决获胜</a:t>
            </a:r>
            <a:r>
              <a:rPr lang="zh-CN" altLang="en-US" sz="1000"/>
              <a:t>一方：</a:t>
            </a:r>
            <a:endParaRPr lang="zh-CN" altLang="en-US" sz="1000"/>
          </a:p>
        </p:txBody>
      </p:sp>
      <p:sp>
        <p:nvSpPr>
          <p:cNvPr id="43" name="Rounded Rectangle 42"/>
          <p:cNvSpPr/>
          <p:nvPr/>
        </p:nvSpPr>
        <p:spPr>
          <a:xfrm>
            <a:off x="4439920" y="3968750"/>
            <a:ext cx="914400" cy="2628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海布里达</a:t>
            </a:r>
            <a:endParaRPr lang="zh-CN" altLang="en-US" sz="1000"/>
          </a:p>
        </p:txBody>
      </p:sp>
      <p:sp>
        <p:nvSpPr>
          <p:cNvPr id="44" name="Flowchart: Merge 43"/>
          <p:cNvSpPr/>
          <p:nvPr/>
        </p:nvSpPr>
        <p:spPr>
          <a:xfrm>
            <a:off x="5888355" y="164211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381500" y="3355340"/>
            <a:ext cx="23348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仲裁案：</a:t>
            </a:r>
            <a:r>
              <a:rPr lang="en-US" altLang="zh-CN" sz="1000"/>
              <a:t>BC278</a:t>
            </a:r>
            <a:r>
              <a:rPr lang="zh-CN" altLang="en-US" sz="1000"/>
              <a:t>年春</a:t>
            </a:r>
            <a:r>
              <a:rPr lang="en-US" altLang="zh-CN" sz="1000"/>
              <a:t> </a:t>
            </a:r>
            <a:r>
              <a:rPr lang="zh-CN" altLang="en-US" sz="1000"/>
              <a:t>迦太基</a:t>
            </a:r>
            <a:r>
              <a:rPr lang="en-US" altLang="zh-CN" sz="1000"/>
              <a:t> vs </a:t>
            </a:r>
            <a:r>
              <a:rPr lang="zh-CN" altLang="en-US" sz="1000"/>
              <a:t>叙拉古</a:t>
            </a:r>
            <a:r>
              <a:rPr lang="en-US" altLang="zh-CN" sz="1000"/>
              <a:t> </a:t>
            </a:r>
            <a:endParaRPr lang="en-US" alt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2534</Words>
  <Application>WPS Presentation</Application>
  <PresentationFormat>Widescreen</PresentationFormat>
  <Paragraphs>1021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Kerl</cp:lastModifiedBy>
  <cp:revision>17</cp:revision>
  <dcterms:created xsi:type="dcterms:W3CDTF">2022-07-15T10:28:00Z</dcterms:created>
  <dcterms:modified xsi:type="dcterms:W3CDTF">2022-07-23T14:21:09Z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98970FF9841845258FEAB16B72550F0B</vt:lpwstr>
  </property>
  <property fmtid="{D5CDD505-2E9C-101B-9397-08002B2CF9AE}" pid="3" name="KSOProductBuildVer">
    <vt:lpwstr>1033-11.2.0.11191</vt:lpwstr>
  </property>
</Properties>
</file>