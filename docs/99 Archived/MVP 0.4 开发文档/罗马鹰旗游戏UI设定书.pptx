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9" r:id="rId5"/>
    <p:sldId id="258"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106" d="100"/>
          <a:sy n="106" d="100"/>
        </p:scale>
        <p:origin x="2346" y="1308"/>
      </p:cViewPr>
      <p:guideLst>
        <p:guide orient="horz" pos="2160"/>
        <p:guide pos="385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86D7251-074C-420B-88F8-E374AA0F63B2}"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AU"/>
        </a:p>
      </dgm:t>
    </dgm:pt>
    <dgm:pt modelId="{50FC8B25-8A0C-4D66-891D-3E6A5BDAB535}">
      <dgm:prSet phldrT="[Text]" custT="1"/>
      <dgm:spPr/>
      <dgm:t>
        <a:bodyPr/>
        <a:lstStyle/>
        <a:p>
          <a:r>
            <a:rPr lang="zh-CN" altLang="en-US" sz="1200" dirty="0"/>
            <a:t>天命阶段</a:t>
          </a:r>
          <a:endParaRPr lang="en-AU" altLang="zh-CN" sz="1200" dirty="0"/>
        </a:p>
        <a:p>
          <a:r>
            <a:rPr lang="en-AU" sz="1200" dirty="0"/>
            <a:t>Mortality</a:t>
          </a:r>
        </a:p>
      </dgm:t>
    </dgm:pt>
    <dgm:pt modelId="{677D96EE-1DC0-4422-A944-089B1D7C852D}" cxnId="{DFD66634-64F2-47C2-9AA1-0EEC5F448E3F}" type="parTrans">
      <dgm:prSet/>
      <dgm:spPr/>
      <dgm:t>
        <a:bodyPr/>
        <a:lstStyle/>
        <a:p>
          <a:endParaRPr lang="en-AU" sz="1000"/>
        </a:p>
      </dgm:t>
    </dgm:pt>
    <dgm:pt modelId="{2F8A4F9F-05C7-4DCF-9BB7-4302F4EDB78A}" cxnId="{DFD66634-64F2-47C2-9AA1-0EEC5F448E3F}" type="sibTrans">
      <dgm:prSet/>
      <dgm:spPr/>
      <dgm:t>
        <a:bodyPr/>
        <a:lstStyle/>
        <a:p>
          <a:endParaRPr lang="en-AU" sz="1000"/>
        </a:p>
      </dgm:t>
    </dgm:pt>
    <dgm:pt modelId="{697E3B85-9012-461A-8985-8D35D0B3D843}">
      <dgm:prSet phldrT="[Text]" custT="1"/>
      <dgm:spPr/>
      <dgm:t>
        <a:bodyPr/>
        <a:lstStyle/>
        <a:p>
          <a:r>
            <a:rPr lang="zh-CN" altLang="en-US" sz="1200" dirty="0"/>
            <a:t>收入阶段</a:t>
          </a:r>
          <a:endParaRPr lang="en-AU" altLang="zh-CN" sz="1200" dirty="0"/>
        </a:p>
        <a:p>
          <a:r>
            <a:rPr lang="en-AU" sz="1200" dirty="0"/>
            <a:t>Revenue</a:t>
          </a:r>
        </a:p>
      </dgm:t>
    </dgm:pt>
    <dgm:pt modelId="{5CF26552-C993-4144-B8AF-68BFDA9A2F8D}" cxnId="{36DAB9D9-5EDA-4F0C-87A7-84E2B084E100}" type="parTrans">
      <dgm:prSet/>
      <dgm:spPr/>
      <dgm:t>
        <a:bodyPr/>
        <a:lstStyle/>
        <a:p>
          <a:endParaRPr lang="en-AU" sz="1000"/>
        </a:p>
      </dgm:t>
    </dgm:pt>
    <dgm:pt modelId="{D17F9BFE-8351-48B1-BF14-D36F7A2E29D7}" cxnId="{36DAB9D9-5EDA-4F0C-87A7-84E2B084E100}" type="sibTrans">
      <dgm:prSet/>
      <dgm:spPr/>
      <dgm:t>
        <a:bodyPr/>
        <a:lstStyle/>
        <a:p>
          <a:endParaRPr lang="en-AU" sz="1000"/>
        </a:p>
      </dgm:t>
    </dgm:pt>
    <dgm:pt modelId="{E99E81E6-00B4-42FE-8B90-4BAFAEA90CAA}">
      <dgm:prSet phldrT="[Text]" custT="1"/>
      <dgm:spPr/>
      <dgm:t>
        <a:bodyPr/>
        <a:lstStyle/>
        <a:p>
          <a:r>
            <a:rPr lang="zh-CN" altLang="en-US" sz="1200" dirty="0"/>
            <a:t>广场阶段</a:t>
          </a:r>
          <a:endParaRPr lang="en-AU" altLang="zh-CN" sz="1200" dirty="0"/>
        </a:p>
        <a:p>
          <a:r>
            <a:rPr lang="en-AU" sz="1200" dirty="0"/>
            <a:t>Forum</a:t>
          </a:r>
        </a:p>
      </dgm:t>
    </dgm:pt>
    <dgm:pt modelId="{B0355E8B-ABE6-4557-98BD-B1ECBCCCD7A1}" cxnId="{2007465A-2981-479B-84C4-7B483EA88BFB}" type="parTrans">
      <dgm:prSet/>
      <dgm:spPr/>
      <dgm:t>
        <a:bodyPr/>
        <a:lstStyle/>
        <a:p>
          <a:endParaRPr lang="en-AU" sz="1000"/>
        </a:p>
      </dgm:t>
    </dgm:pt>
    <dgm:pt modelId="{389D86C4-7533-47A8-93FE-FD56A7E31298}" cxnId="{2007465A-2981-479B-84C4-7B483EA88BFB}" type="sibTrans">
      <dgm:prSet/>
      <dgm:spPr/>
      <dgm:t>
        <a:bodyPr/>
        <a:lstStyle/>
        <a:p>
          <a:endParaRPr lang="en-AU" sz="1000"/>
        </a:p>
      </dgm:t>
    </dgm:pt>
    <dgm:pt modelId="{DC0CE128-4573-4CDA-9AEA-386A008E9EB5}">
      <dgm:prSet phldrT="[Text]" phldr="0" custT="1"/>
      <dgm:spPr/>
      <dgm:t>
        <a:bodyPr vert="horz" wrap="square"/>
        <a:p>
          <a:pPr>
            <a:lnSpc>
              <a:spcPct val="100000"/>
            </a:lnSpc>
            <a:spcBef>
              <a:spcPct val="0"/>
            </a:spcBef>
            <a:spcAft>
              <a:spcPct val="35000"/>
            </a:spcAft>
          </a:pPr>
          <a:r>
            <a:rPr lang="zh-CN" altLang="en-US" sz="1200" dirty="0"/>
            <a:t>平民</a:t>
          </a:r>
          <a:r>
            <a:rPr lang="zh-CN" altLang="en-US" sz="1200" dirty="0"/>
            <a:t>大会</a:t>
          </a:r>
          <a:r>
            <a:rPr lang="en-AU" altLang="zh-CN" sz="1200" dirty="0"/>
            <a:t/>
          </a:r>
          <a:endParaRPr lang="en-AU" altLang="zh-CN" sz="1200" dirty="0"/>
        </a:p>
        <a:p>
          <a:pPr>
            <a:lnSpc>
              <a:spcPct val="100000"/>
            </a:lnSpc>
            <a:spcBef>
              <a:spcPct val="0"/>
            </a:spcBef>
            <a:spcAft>
              <a:spcPct val="35000"/>
            </a:spcAft>
          </a:pPr>
          <a:r>
            <a:rPr lang="en-AU" sz="1200" dirty="0"/>
            <a:t>Population</a:t>
          </a:r>
          <a:r>
            <a:rPr sz="6500"/>
            <a:t/>
          </a:r>
          <a:endParaRPr sz="6500"/>
        </a:p>
      </dgm:t>
    </dgm:pt>
    <dgm:pt modelId="{A44511F6-1BB0-4E7B-AEE4-470D11E7A82E}" cxnId="{4C407CF3-82BF-4675-A4CC-E16CF8A8FAA2}" type="parTrans">
      <dgm:prSet/>
      <dgm:spPr/>
      <dgm:t>
        <a:bodyPr/>
        <a:lstStyle/>
        <a:p>
          <a:endParaRPr lang="en-AU" sz="1000"/>
        </a:p>
      </dgm:t>
    </dgm:pt>
    <dgm:pt modelId="{B20DB7DF-AE2B-4A77-914D-B826B31CC1C0}" cxnId="{4C407CF3-82BF-4675-A4CC-E16CF8A8FAA2}" type="sibTrans">
      <dgm:prSet/>
      <dgm:spPr/>
      <dgm:t>
        <a:bodyPr/>
        <a:lstStyle/>
        <a:p>
          <a:endParaRPr lang="en-AU" sz="1000"/>
        </a:p>
      </dgm:t>
    </dgm:pt>
    <dgm:pt modelId="{9A542418-290F-4791-BAA0-5E04410C1526}">
      <dgm:prSet phldrT="[Text]" custT="1"/>
      <dgm:spPr/>
      <dgm:t>
        <a:bodyPr/>
        <a:lstStyle/>
        <a:p>
          <a:r>
            <a:rPr lang="zh-CN" altLang="en-US" sz="1200" dirty="0"/>
            <a:t>元老院</a:t>
          </a:r>
          <a:endParaRPr lang="en-AU" altLang="zh-CN" sz="1200" dirty="0"/>
        </a:p>
        <a:p>
          <a:r>
            <a:rPr lang="en-AU" sz="1200" dirty="0"/>
            <a:t>Senate</a:t>
          </a:r>
        </a:p>
      </dgm:t>
    </dgm:pt>
    <dgm:pt modelId="{F7F010A6-8640-4BD2-8879-2AA5E677BBE1}" cxnId="{BF1B68A8-1053-45B1-8828-5EF5BAD708A4}" type="parTrans">
      <dgm:prSet/>
      <dgm:spPr/>
      <dgm:t>
        <a:bodyPr/>
        <a:lstStyle/>
        <a:p>
          <a:endParaRPr lang="en-AU" sz="1000"/>
        </a:p>
      </dgm:t>
    </dgm:pt>
    <dgm:pt modelId="{81868406-345A-40D5-AC6A-B3DA78A5B6C3}" cxnId="{BF1B68A8-1053-45B1-8828-5EF5BAD708A4}" type="sibTrans">
      <dgm:prSet/>
      <dgm:spPr/>
      <dgm:t>
        <a:bodyPr/>
        <a:lstStyle/>
        <a:p>
          <a:endParaRPr lang="en-AU" sz="1000"/>
        </a:p>
      </dgm:t>
    </dgm:pt>
    <dgm:pt modelId="{8074966E-9078-4105-AAB2-B86290878D35}">
      <dgm:prSet phldrT="[Text]" phldr="0" custT="1"/>
      <dgm:spPr/>
      <dgm:t>
        <a:bodyPr/>
        <a:lstStyle/>
        <a:p>
          <a:r>
            <a:rPr lang="zh-CN" altLang="en-US" sz="1200" dirty="0"/>
            <a:t>外战阶段</a:t>
          </a:r>
          <a:endParaRPr lang="en-AU" altLang="zh-CN" sz="1200" dirty="0"/>
        </a:p>
        <a:p>
          <a:r>
            <a:rPr lang="en-AU" sz="1200" dirty="0"/>
            <a:t>Combat</a:t>
          </a:r>
        </a:p>
      </dgm:t>
    </dgm:pt>
    <dgm:pt modelId="{98F13C1A-3A87-4337-8DDD-74BA08567B70}" cxnId="{6319CCBA-60EF-4AD4-BDAB-64F63FB4E6A5}" type="parTrans">
      <dgm:prSet/>
      <dgm:spPr/>
      <dgm:t>
        <a:bodyPr/>
        <a:lstStyle/>
        <a:p>
          <a:endParaRPr lang="en-AU" sz="1000"/>
        </a:p>
      </dgm:t>
    </dgm:pt>
    <dgm:pt modelId="{B3D7A11A-5CA9-42B8-8D68-4837D388C7D3}" cxnId="{6319CCBA-60EF-4AD4-BDAB-64F63FB4E6A5}" type="sibTrans">
      <dgm:prSet/>
      <dgm:spPr/>
      <dgm:t>
        <a:bodyPr/>
        <a:lstStyle/>
        <a:p>
          <a:endParaRPr lang="en-AU" sz="1000"/>
        </a:p>
      </dgm:t>
    </dgm:pt>
    <dgm:pt modelId="{AD9A10A8-81E4-497E-BD36-E79188F59B77}">
      <dgm:prSet phldrT="[Text]" phldr="0" custT="1"/>
      <dgm:spPr/>
      <dgm:t>
        <a:bodyPr vert="horz" wrap="square"/>
        <a:p>
          <a:pPr>
            <a:lnSpc>
              <a:spcPct val="100000"/>
            </a:lnSpc>
            <a:spcBef>
              <a:spcPct val="0"/>
            </a:spcBef>
            <a:spcAft>
              <a:spcPct val="35000"/>
            </a:spcAft>
          </a:pPr>
          <a:r>
            <a:rPr lang="zh-CN" altLang="en-US" sz="1200" dirty="0"/>
            <a:t>决算</a:t>
          </a:r>
          <a:r>
            <a:rPr lang="zh-CN" altLang="en-US" sz="1200" dirty="0"/>
            <a:t>阶段</a:t>
          </a:r>
          <a:r>
            <a:rPr lang="en-AU" altLang="zh-CN" sz="1200" dirty="0"/>
            <a:t/>
          </a:r>
          <a:endParaRPr lang="en-AU" altLang="zh-CN" sz="1200" dirty="0"/>
        </a:p>
        <a:p>
          <a:pPr>
            <a:lnSpc>
              <a:spcPct val="100000"/>
            </a:lnSpc>
            <a:spcBef>
              <a:spcPct val="0"/>
            </a:spcBef>
            <a:spcAft>
              <a:spcPct val="35000"/>
            </a:spcAft>
          </a:pPr>
          <a:r>
            <a:rPr lang="en-US" sz="1200" dirty="0"/>
            <a:t>R</a:t>
          </a:r>
          <a:r>
            <a:rPr lang="en-US" sz="1200" dirty="0"/>
            <a:t>esolution</a:t>
          </a:r>
          <a:r>
            <a:rPr lang="en-US" sz="1200" dirty="0"/>
            <a:t/>
          </a:r>
          <a:endParaRPr lang="en-US" sz="1200" dirty="0"/>
        </a:p>
      </dgm:t>
    </dgm:pt>
    <dgm:pt modelId="{AA8CF2BD-57A0-4708-8318-69CBEE5B6471}" cxnId="{B4B07B95-1B9D-48CF-9084-C3B4131A2CB7}" type="parTrans">
      <dgm:prSet/>
      <dgm:spPr/>
      <dgm:t>
        <a:bodyPr/>
        <a:lstStyle/>
        <a:p>
          <a:endParaRPr lang="en-AU" sz="1000"/>
        </a:p>
      </dgm:t>
    </dgm:pt>
    <dgm:pt modelId="{08A884E6-8E2C-4645-B06C-4B05C27FE058}" cxnId="{B4B07B95-1B9D-48CF-9084-C3B4131A2CB7}" type="sibTrans">
      <dgm:prSet/>
      <dgm:spPr/>
      <dgm:t>
        <a:bodyPr/>
        <a:lstStyle/>
        <a:p>
          <a:endParaRPr lang="en-AU" sz="1000"/>
        </a:p>
      </dgm:t>
    </dgm:pt>
    <dgm:pt modelId="{8D3ACB20-62AB-4AC2-B17A-75BC4D40E805}" type="pres">
      <dgm:prSet presAssocID="{B86D7251-074C-420B-88F8-E374AA0F63B2}" presName="Name0" presStyleCnt="0">
        <dgm:presLayoutVars>
          <dgm:dir/>
          <dgm:resizeHandles val="exact"/>
        </dgm:presLayoutVars>
      </dgm:prSet>
      <dgm:spPr/>
    </dgm:pt>
    <dgm:pt modelId="{15F0E6DC-B14D-400E-B69C-31710ED543D2}" type="pres">
      <dgm:prSet presAssocID="{B86D7251-074C-420B-88F8-E374AA0F63B2}" presName="cycle" presStyleCnt="0"/>
      <dgm:spPr/>
    </dgm:pt>
    <dgm:pt modelId="{2F5DF81A-D769-4D7E-93FE-B425D46E3DE9}" type="pres">
      <dgm:prSet presAssocID="{50FC8B25-8A0C-4D66-891D-3E6A5BDAB535}" presName="nodeFirstNode" presStyleLbl="node1" presStyleIdx="0" presStyleCnt="7">
        <dgm:presLayoutVars>
          <dgm:bulletEnabled val="1"/>
        </dgm:presLayoutVars>
      </dgm:prSet>
      <dgm:spPr/>
    </dgm:pt>
    <dgm:pt modelId="{F90368FC-30EB-4877-8D13-D0AF2E7A137B}" type="pres">
      <dgm:prSet presAssocID="{2F8A4F9F-05C7-4DCF-9BB7-4302F4EDB78A}" presName="sibTransFirstNode" presStyleLbl="bgShp" presStyleIdx="0" presStyleCnt="1"/>
      <dgm:spPr/>
    </dgm:pt>
    <dgm:pt modelId="{791A1039-4564-4D7F-AF90-CEF3E05C31F3}" type="pres">
      <dgm:prSet presAssocID="{697E3B85-9012-461A-8985-8D35D0B3D843}" presName="nodeFollowingNodes" presStyleLbl="node1" presStyleIdx="1" presStyleCnt="7">
        <dgm:presLayoutVars>
          <dgm:bulletEnabled val="1"/>
        </dgm:presLayoutVars>
      </dgm:prSet>
      <dgm:spPr/>
    </dgm:pt>
    <dgm:pt modelId="{FD71CCB9-E4B6-4D63-990B-36B03B385511}" type="pres">
      <dgm:prSet presAssocID="{E99E81E6-00B4-42FE-8B90-4BAFAEA90CAA}" presName="nodeFollowingNodes" presStyleLbl="node1" presStyleIdx="2" presStyleCnt="7">
        <dgm:presLayoutVars>
          <dgm:bulletEnabled val="1"/>
        </dgm:presLayoutVars>
      </dgm:prSet>
      <dgm:spPr/>
    </dgm:pt>
    <dgm:pt modelId="{6965D219-76A6-4C12-BCCA-228163DFB025}" type="pres">
      <dgm:prSet presAssocID="{DC0CE128-4573-4CDA-9AEA-386A008E9EB5}" presName="nodeFollowingNodes" presStyleLbl="node1" presStyleIdx="3" presStyleCnt="7">
        <dgm:presLayoutVars>
          <dgm:bulletEnabled val="1"/>
        </dgm:presLayoutVars>
      </dgm:prSet>
      <dgm:spPr/>
    </dgm:pt>
    <dgm:pt modelId="{600414C5-77D7-4913-BFE1-E7749691C665}" type="pres">
      <dgm:prSet presAssocID="{9A542418-290F-4791-BAA0-5E04410C1526}" presName="nodeFollowingNodes" presStyleLbl="node1" presStyleIdx="4" presStyleCnt="7">
        <dgm:presLayoutVars>
          <dgm:bulletEnabled val="1"/>
        </dgm:presLayoutVars>
      </dgm:prSet>
      <dgm:spPr/>
    </dgm:pt>
    <dgm:pt modelId="{5C2D21AA-BA3F-4CB2-8A34-C1DC5C1B9E8C}" type="pres">
      <dgm:prSet presAssocID="{8074966E-9078-4105-AAB2-B86290878D35}" presName="nodeFollowingNodes" presStyleLbl="node1" presStyleIdx="5" presStyleCnt="7">
        <dgm:presLayoutVars>
          <dgm:bulletEnabled val="1"/>
        </dgm:presLayoutVars>
      </dgm:prSet>
      <dgm:spPr/>
    </dgm:pt>
    <dgm:pt modelId="{949FFD6A-28EC-419E-81B4-3B2B0823CC6F}" type="pres">
      <dgm:prSet presAssocID="{AD9A10A8-81E4-497E-BD36-E79188F59B77}" presName="nodeFollowingNodes" presStyleLbl="node1" presStyleIdx="6" presStyleCnt="7">
        <dgm:presLayoutVars>
          <dgm:bulletEnabled val="1"/>
        </dgm:presLayoutVars>
      </dgm:prSet>
      <dgm:spPr/>
    </dgm:pt>
  </dgm:ptLst>
  <dgm:cxnLst>
    <dgm:cxn modelId="{DFD66634-64F2-47C2-9AA1-0EEC5F448E3F}" srcId="{B86D7251-074C-420B-88F8-E374AA0F63B2}" destId="{50FC8B25-8A0C-4D66-891D-3E6A5BDAB535}" srcOrd="0" destOrd="0" parTransId="{677D96EE-1DC0-4422-A944-089B1D7C852D}" sibTransId="{2F8A4F9F-05C7-4DCF-9BB7-4302F4EDB78A}"/>
    <dgm:cxn modelId="{36DAB9D9-5EDA-4F0C-87A7-84E2B084E100}" srcId="{B86D7251-074C-420B-88F8-E374AA0F63B2}" destId="{697E3B85-9012-461A-8985-8D35D0B3D843}" srcOrd="1" destOrd="0" parTransId="{5CF26552-C993-4144-B8AF-68BFDA9A2F8D}" sibTransId="{D17F9BFE-8351-48B1-BF14-D36F7A2E29D7}"/>
    <dgm:cxn modelId="{2007465A-2981-479B-84C4-7B483EA88BFB}" srcId="{B86D7251-074C-420B-88F8-E374AA0F63B2}" destId="{E99E81E6-00B4-42FE-8B90-4BAFAEA90CAA}" srcOrd="2" destOrd="0" parTransId="{B0355E8B-ABE6-4557-98BD-B1ECBCCCD7A1}" sibTransId="{389D86C4-7533-47A8-93FE-FD56A7E31298}"/>
    <dgm:cxn modelId="{4C407CF3-82BF-4675-A4CC-E16CF8A8FAA2}" srcId="{B86D7251-074C-420B-88F8-E374AA0F63B2}" destId="{DC0CE128-4573-4CDA-9AEA-386A008E9EB5}" srcOrd="3" destOrd="0" parTransId="{A44511F6-1BB0-4E7B-AEE4-470D11E7A82E}" sibTransId="{B20DB7DF-AE2B-4A77-914D-B826B31CC1C0}"/>
    <dgm:cxn modelId="{BF1B68A8-1053-45B1-8828-5EF5BAD708A4}" srcId="{B86D7251-074C-420B-88F8-E374AA0F63B2}" destId="{9A542418-290F-4791-BAA0-5E04410C1526}" srcOrd="4" destOrd="0" parTransId="{F7F010A6-8640-4BD2-8879-2AA5E677BBE1}" sibTransId="{81868406-345A-40D5-AC6A-B3DA78A5B6C3}"/>
    <dgm:cxn modelId="{6319CCBA-60EF-4AD4-BDAB-64F63FB4E6A5}" srcId="{B86D7251-074C-420B-88F8-E374AA0F63B2}" destId="{8074966E-9078-4105-AAB2-B86290878D35}" srcOrd="5" destOrd="0" parTransId="{98F13C1A-3A87-4337-8DDD-74BA08567B70}" sibTransId="{B3D7A11A-5CA9-42B8-8D68-4837D388C7D3}"/>
    <dgm:cxn modelId="{B4B07B95-1B9D-48CF-9084-C3B4131A2CB7}" srcId="{B86D7251-074C-420B-88F8-E374AA0F63B2}" destId="{AD9A10A8-81E4-497E-BD36-E79188F59B77}" srcOrd="6" destOrd="0" parTransId="{AA8CF2BD-57A0-4708-8318-69CBEE5B6471}" sibTransId="{08A884E6-8E2C-4645-B06C-4B05C27FE058}"/>
    <dgm:cxn modelId="{F6B71C9F-D76F-48F6-B935-5117D1B693CF}" type="presOf" srcId="{B86D7251-074C-420B-88F8-E374AA0F63B2}" destId="{8D3ACB20-62AB-4AC2-B17A-75BC4D40E805}" srcOrd="0" destOrd="0" presId="urn:microsoft.com/office/officeart/2005/8/layout/cycle3"/>
    <dgm:cxn modelId="{4C3C337E-6187-483A-9D06-69508F13BE88}" type="presParOf" srcId="{8D3ACB20-62AB-4AC2-B17A-75BC4D40E805}" destId="{15F0E6DC-B14D-400E-B69C-31710ED543D2}" srcOrd="0" destOrd="0" presId="urn:microsoft.com/office/officeart/2005/8/layout/cycle3"/>
    <dgm:cxn modelId="{A2C044EF-0D46-4780-86CE-84CD0A05F8E7}" type="presParOf" srcId="{15F0E6DC-B14D-400E-B69C-31710ED543D2}" destId="{2F5DF81A-D769-4D7E-93FE-B425D46E3DE9}" srcOrd="0" destOrd="0" presId="urn:microsoft.com/office/officeart/2005/8/layout/cycle3"/>
    <dgm:cxn modelId="{DF852396-60F5-4763-A17D-DF22753167B3}" type="presOf" srcId="{50FC8B25-8A0C-4D66-891D-3E6A5BDAB535}" destId="{2F5DF81A-D769-4D7E-93FE-B425D46E3DE9}" srcOrd="0" destOrd="0" presId="urn:microsoft.com/office/officeart/2005/8/layout/cycle3"/>
    <dgm:cxn modelId="{B3C268C1-9EA3-458C-BFFE-5694AFF4206B}" type="presParOf" srcId="{15F0E6DC-B14D-400E-B69C-31710ED543D2}" destId="{F90368FC-30EB-4877-8D13-D0AF2E7A137B}" srcOrd="1" destOrd="0" presId="urn:microsoft.com/office/officeart/2005/8/layout/cycle3"/>
    <dgm:cxn modelId="{EAF34A52-5668-41CF-BDF3-895EDF000FD3}" type="presOf" srcId="{2F8A4F9F-05C7-4DCF-9BB7-4302F4EDB78A}" destId="{F90368FC-30EB-4877-8D13-D0AF2E7A137B}" srcOrd="0" destOrd="0" presId="urn:microsoft.com/office/officeart/2005/8/layout/cycle3"/>
    <dgm:cxn modelId="{4B51C60B-0BFD-4665-9DFD-2B700B6846A3}" type="presParOf" srcId="{15F0E6DC-B14D-400E-B69C-31710ED543D2}" destId="{791A1039-4564-4D7F-AF90-CEF3E05C31F3}" srcOrd="2" destOrd="0" presId="urn:microsoft.com/office/officeart/2005/8/layout/cycle3"/>
    <dgm:cxn modelId="{2B8E3BFB-C211-4ECA-8FE9-E3B8C41D739B}" type="presOf" srcId="{697E3B85-9012-461A-8985-8D35D0B3D843}" destId="{791A1039-4564-4D7F-AF90-CEF3E05C31F3}" srcOrd="0" destOrd="0" presId="urn:microsoft.com/office/officeart/2005/8/layout/cycle3"/>
    <dgm:cxn modelId="{80FEB33D-9F95-46CC-8F6C-1FB80D4FD44C}" type="presParOf" srcId="{15F0E6DC-B14D-400E-B69C-31710ED543D2}" destId="{FD71CCB9-E4B6-4D63-990B-36B03B385511}" srcOrd="3" destOrd="0" presId="urn:microsoft.com/office/officeart/2005/8/layout/cycle3"/>
    <dgm:cxn modelId="{9EFCA369-4254-4B97-B2B7-49ACBAA05EDC}" type="presOf" srcId="{E99E81E6-00B4-42FE-8B90-4BAFAEA90CAA}" destId="{FD71CCB9-E4B6-4D63-990B-36B03B385511}" srcOrd="0" destOrd="0" presId="urn:microsoft.com/office/officeart/2005/8/layout/cycle3"/>
    <dgm:cxn modelId="{F2AF254C-5D7A-45F0-A8F3-FF80EAE482F1}" type="presParOf" srcId="{15F0E6DC-B14D-400E-B69C-31710ED543D2}" destId="{6965D219-76A6-4C12-BCCA-228163DFB025}" srcOrd="4" destOrd="0" presId="urn:microsoft.com/office/officeart/2005/8/layout/cycle3"/>
    <dgm:cxn modelId="{7A96FD49-AC7A-4C9E-828B-B1CAED52681D}" type="presOf" srcId="{DC0CE128-4573-4CDA-9AEA-386A008E9EB5}" destId="{6965D219-76A6-4C12-BCCA-228163DFB025}" srcOrd="0" destOrd="0" presId="urn:microsoft.com/office/officeart/2005/8/layout/cycle3"/>
    <dgm:cxn modelId="{F57CFFB1-CA52-45B2-A28A-015CBF867A07}" type="presParOf" srcId="{15F0E6DC-B14D-400E-B69C-31710ED543D2}" destId="{600414C5-77D7-4913-BFE1-E7749691C665}" srcOrd="5" destOrd="0" presId="urn:microsoft.com/office/officeart/2005/8/layout/cycle3"/>
    <dgm:cxn modelId="{F183BC68-C911-49CA-AEAE-0C13F385D1BC}" type="presOf" srcId="{9A542418-290F-4791-BAA0-5E04410C1526}" destId="{600414C5-77D7-4913-BFE1-E7749691C665}" srcOrd="0" destOrd="0" presId="urn:microsoft.com/office/officeart/2005/8/layout/cycle3"/>
    <dgm:cxn modelId="{0BEE29CC-A1FB-4318-ABF8-67CB06214CA4}" type="presParOf" srcId="{15F0E6DC-B14D-400E-B69C-31710ED543D2}" destId="{5C2D21AA-BA3F-4CB2-8A34-C1DC5C1B9E8C}" srcOrd="6" destOrd="0" presId="urn:microsoft.com/office/officeart/2005/8/layout/cycle3"/>
    <dgm:cxn modelId="{E6352763-1031-4CC6-B7D6-FFA6D9D4419C}" type="presOf" srcId="{8074966E-9078-4105-AAB2-B86290878D35}" destId="{5C2D21AA-BA3F-4CB2-8A34-C1DC5C1B9E8C}" srcOrd="0" destOrd="0" presId="urn:microsoft.com/office/officeart/2005/8/layout/cycle3"/>
    <dgm:cxn modelId="{ED809FA6-68DD-4EA1-8C0F-58F40A53EACA}" type="presParOf" srcId="{15F0E6DC-B14D-400E-B69C-31710ED543D2}" destId="{949FFD6A-28EC-419E-81B4-3B2B0823CC6F}" srcOrd="7" destOrd="0" presId="urn:microsoft.com/office/officeart/2005/8/layout/cycle3"/>
    <dgm:cxn modelId="{65833158-8CCB-4872-A8BB-68C45A6E7D4C}" type="presOf" srcId="{AD9A10A8-81E4-497E-BD36-E79188F59B77}" destId="{949FFD6A-28EC-419E-81B4-3B2B0823CC6F}" srcOrd="0"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217459" cy="3404098"/>
        <a:chOff x="0" y="0"/>
        <a:chExt cx="5217459" cy="3404098"/>
      </a:xfrm>
    </dsp:grpSpPr>
    <dsp:sp modelId="{F90368FC-30EB-4877-8D13-D0AF2E7A137B}">
      <dsp:nvSpPr>
        <dsp:cNvPr id="4" name="环形箭头 3"/>
        <dsp:cNvSpPr/>
      </dsp:nvSpPr>
      <dsp:spPr bwMode="white">
        <a:xfrm>
          <a:off x="868805" y="1482"/>
          <a:ext cx="3479848" cy="3479848"/>
        </a:xfrm>
        <a:prstGeom prst="circularArrow">
          <a:avLst>
            <a:gd name="adj1" fmla="val 5000"/>
            <a:gd name="adj2" fmla="val 360000"/>
            <a:gd name="adj3" fmla="val 14512755"/>
            <a:gd name="adj4" fmla="val 16923951"/>
            <a:gd name="adj5" fmla="val 5500"/>
          </a:avLst>
        </a:prstGeom>
      </dsp:spPr>
      <dsp:style>
        <a:lnRef idx="0">
          <a:schemeClr val="accent1"/>
        </a:lnRef>
        <a:fillRef idx="1">
          <a:schemeClr val="accent1">
            <a:tint val="40000"/>
          </a:schemeClr>
        </a:fillRef>
        <a:effectRef idx="0">
          <a:scrgbClr r="0" g="0" b="0"/>
        </a:effectRef>
        <a:fontRef idx="minor"/>
      </dsp:style>
      <dsp:txXfrm>
        <a:off x="868805" y="1482"/>
        <a:ext cx="3479848" cy="3479848"/>
      </dsp:txXfrm>
    </dsp:sp>
    <dsp:sp modelId="{2F5DF81A-D769-4D7E-93FE-B425D46E3DE9}">
      <dsp:nvSpPr>
        <dsp:cNvPr id="3" name="圆角矩形 2"/>
        <dsp:cNvSpPr/>
      </dsp:nvSpPr>
      <dsp:spPr bwMode="white">
        <a:xfrm>
          <a:off x="2069792" y="0"/>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天命阶段</a:t>
          </a:r>
          <a:endParaRPr lang="en-AU" altLang="zh-CN" sz="1200" dirty="0"/>
        </a:p>
        <a:p>
          <a:pPr lvl="0">
            <a:lnSpc>
              <a:spcPct val="100000"/>
            </a:lnSpc>
            <a:spcBef>
              <a:spcPct val="0"/>
            </a:spcBef>
            <a:spcAft>
              <a:spcPct val="35000"/>
            </a:spcAft>
          </a:pPr>
          <a:r>
            <a:rPr lang="en-AU" sz="1200" dirty="0"/>
            <a:t>Mortality</a:t>
          </a:r>
        </a:p>
      </dsp:txBody>
      <dsp:txXfrm>
        <a:off x="2069792" y="0"/>
        <a:ext cx="1077874" cy="538937"/>
      </dsp:txXfrm>
    </dsp:sp>
    <dsp:sp modelId="{791A1039-4564-4D7F-AF90-CEF3E05C31F3}">
      <dsp:nvSpPr>
        <dsp:cNvPr id="5" name="圆角矩形 4"/>
        <dsp:cNvSpPr/>
      </dsp:nvSpPr>
      <dsp:spPr bwMode="white">
        <a:xfrm>
          <a:off x="3248177" y="567480"/>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收入阶段</a:t>
          </a:r>
          <a:endParaRPr lang="en-AU" altLang="zh-CN" sz="1200" dirty="0"/>
        </a:p>
        <a:p>
          <a:pPr lvl="0">
            <a:lnSpc>
              <a:spcPct val="100000"/>
            </a:lnSpc>
            <a:spcBef>
              <a:spcPct val="0"/>
            </a:spcBef>
            <a:spcAft>
              <a:spcPct val="35000"/>
            </a:spcAft>
          </a:pPr>
          <a:r>
            <a:rPr lang="en-AU" sz="1200" dirty="0"/>
            <a:t>Revenue</a:t>
          </a:r>
        </a:p>
      </dsp:txBody>
      <dsp:txXfrm>
        <a:off x="3248177" y="567480"/>
        <a:ext cx="1077874" cy="538937"/>
      </dsp:txXfrm>
    </dsp:sp>
    <dsp:sp modelId="{FD71CCB9-E4B6-4D63-990B-36B03B385511}">
      <dsp:nvSpPr>
        <dsp:cNvPr id="6" name="圆角矩形 5"/>
        <dsp:cNvSpPr/>
      </dsp:nvSpPr>
      <dsp:spPr bwMode="white">
        <a:xfrm>
          <a:off x="3539214" y="1842597"/>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广场阶段</a:t>
          </a:r>
          <a:endParaRPr lang="en-AU" altLang="zh-CN" sz="1200" dirty="0"/>
        </a:p>
        <a:p>
          <a:pPr lvl="0">
            <a:lnSpc>
              <a:spcPct val="100000"/>
            </a:lnSpc>
            <a:spcBef>
              <a:spcPct val="0"/>
            </a:spcBef>
            <a:spcAft>
              <a:spcPct val="35000"/>
            </a:spcAft>
          </a:pPr>
          <a:r>
            <a:rPr lang="en-AU" sz="1200" dirty="0"/>
            <a:t>Forum</a:t>
          </a:r>
        </a:p>
      </dsp:txBody>
      <dsp:txXfrm>
        <a:off x="3539214" y="1842597"/>
        <a:ext cx="1077874" cy="538937"/>
      </dsp:txXfrm>
    </dsp:sp>
    <dsp:sp modelId="{6965D219-76A6-4C12-BCCA-228163DFB025}">
      <dsp:nvSpPr>
        <dsp:cNvPr id="7" name="圆角矩形 6"/>
        <dsp:cNvSpPr/>
      </dsp:nvSpPr>
      <dsp:spPr bwMode="white">
        <a:xfrm>
          <a:off x="2723747" y="2865161"/>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平民</a:t>
          </a:r>
          <a:r>
            <a:rPr lang="zh-CN" altLang="en-US" sz="1200" dirty="0"/>
            <a:t>大会</a:t>
          </a:r>
          <a:endParaRPr lang="en-AU" altLang="zh-CN" sz="1200" dirty="0"/>
        </a:p>
        <a:p>
          <a:pPr lvl="0">
            <a:lnSpc>
              <a:spcPct val="100000"/>
            </a:lnSpc>
            <a:spcBef>
              <a:spcPct val="0"/>
            </a:spcBef>
            <a:spcAft>
              <a:spcPct val="35000"/>
            </a:spcAft>
          </a:pPr>
          <a:r>
            <a:rPr lang="en-AU" sz="1200" dirty="0"/>
            <a:t>Population</a:t>
          </a:r>
          <a:endParaRPr sz="6500"/>
        </a:p>
      </dsp:txBody>
      <dsp:txXfrm>
        <a:off x="2723747" y="2865161"/>
        <a:ext cx="1077874" cy="538937"/>
      </dsp:txXfrm>
    </dsp:sp>
    <dsp:sp modelId="{600414C5-77D7-4913-BFE1-E7749691C665}">
      <dsp:nvSpPr>
        <dsp:cNvPr id="8" name="圆角矩形 7"/>
        <dsp:cNvSpPr/>
      </dsp:nvSpPr>
      <dsp:spPr bwMode="white">
        <a:xfrm>
          <a:off x="1415838" y="2865161"/>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元老院</a:t>
          </a:r>
          <a:endParaRPr lang="en-AU" altLang="zh-CN" sz="1200" dirty="0"/>
        </a:p>
        <a:p>
          <a:pPr lvl="0">
            <a:lnSpc>
              <a:spcPct val="100000"/>
            </a:lnSpc>
            <a:spcBef>
              <a:spcPct val="0"/>
            </a:spcBef>
            <a:spcAft>
              <a:spcPct val="35000"/>
            </a:spcAft>
          </a:pPr>
          <a:r>
            <a:rPr lang="en-AU" sz="1200" dirty="0"/>
            <a:t>Senate</a:t>
          </a:r>
        </a:p>
      </dsp:txBody>
      <dsp:txXfrm>
        <a:off x="1415838" y="2865161"/>
        <a:ext cx="1077874" cy="538937"/>
      </dsp:txXfrm>
    </dsp:sp>
    <dsp:sp modelId="{5C2D21AA-BA3F-4CB2-8A34-C1DC5C1B9E8C}">
      <dsp:nvSpPr>
        <dsp:cNvPr id="9" name="圆角矩形 8"/>
        <dsp:cNvSpPr/>
      </dsp:nvSpPr>
      <dsp:spPr bwMode="white">
        <a:xfrm>
          <a:off x="600370" y="1842597"/>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t>外战阶段</a:t>
          </a:r>
          <a:endParaRPr lang="en-AU" altLang="zh-CN" sz="1200" dirty="0"/>
        </a:p>
        <a:p>
          <a:pPr lvl="0">
            <a:lnSpc>
              <a:spcPct val="100000"/>
            </a:lnSpc>
            <a:spcBef>
              <a:spcPct val="0"/>
            </a:spcBef>
            <a:spcAft>
              <a:spcPct val="35000"/>
            </a:spcAft>
          </a:pPr>
          <a:r>
            <a:rPr lang="en-AU" sz="1200" dirty="0"/>
            <a:t>Combat</a:t>
          </a:r>
        </a:p>
      </dsp:txBody>
      <dsp:txXfrm>
        <a:off x="600370" y="1842597"/>
        <a:ext cx="1077874" cy="538937"/>
      </dsp:txXfrm>
    </dsp:sp>
    <dsp:sp modelId="{949FFD6A-28EC-419E-81B4-3B2B0823CC6F}">
      <dsp:nvSpPr>
        <dsp:cNvPr id="10" name="圆角矩形 9"/>
        <dsp:cNvSpPr/>
      </dsp:nvSpPr>
      <dsp:spPr bwMode="white">
        <a:xfrm>
          <a:off x="891408" y="567480"/>
          <a:ext cx="1077874" cy="538937"/>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200" dirty="0"/>
            <a:t>决算</a:t>
          </a:r>
          <a:r>
            <a:rPr lang="zh-CN" altLang="en-US" sz="1200" dirty="0"/>
            <a:t>阶段</a:t>
          </a:r>
          <a:endParaRPr lang="en-AU" altLang="zh-CN" sz="1200" dirty="0"/>
        </a:p>
        <a:p>
          <a:pPr lvl="0">
            <a:lnSpc>
              <a:spcPct val="100000"/>
            </a:lnSpc>
            <a:spcBef>
              <a:spcPct val="0"/>
            </a:spcBef>
            <a:spcAft>
              <a:spcPct val="35000"/>
            </a:spcAft>
            <a:buNone/>
          </a:pPr>
          <a:r>
            <a:rPr lang="en-US" sz="1200" dirty="0"/>
            <a:t>R</a:t>
          </a:r>
          <a:r>
            <a:rPr lang="en-US" sz="1200" dirty="0"/>
            <a:t>esolution</a:t>
          </a:r>
          <a:endParaRPr lang="en-US" sz="1200" dirty="0"/>
        </a:p>
      </dsp:txBody>
      <dsp:txXfrm>
        <a:off x="891408" y="567480"/>
        <a:ext cx="1077874" cy="538937"/>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效忠老兵：军事与政治功能是否分离？</a:t>
            </a:r>
            <a:endParaRPr lang="zh-CN" altLang="en-US"/>
          </a:p>
          <a:p>
            <a:pPr indent="457200"/>
            <a:r>
              <a:rPr lang="zh-CN" altLang="en-US"/>
              <a:t>效忠老兵只是一个政治概念；将领如果打了胜仗，则会获得一定单位数量的效忠老兵；通过席位占比来增加其政治权力；简单来说政治和军事功能是分离的；</a:t>
            </a:r>
            <a:endParaRPr lang="zh-CN" altLang="en-US"/>
          </a:p>
          <a:p>
            <a:r>
              <a:rPr lang="zh-CN" altLang="en-US"/>
              <a:t>资金</a:t>
            </a:r>
            <a:r>
              <a:rPr lang="en-US" altLang="en-US"/>
              <a:t>→</a:t>
            </a:r>
            <a:r>
              <a:rPr lang="zh-CN" altLang="en-US"/>
              <a:t>影响力：直接路径还是通过子项目？</a:t>
            </a:r>
            <a:endParaRPr lang="zh-CN" altLang="en-US"/>
          </a:p>
          <a:p>
            <a:pPr indent="457200"/>
            <a:r>
              <a:rPr lang="zh-CN" altLang="en-US"/>
              <a:t>人物必须使用自己从合同或土地上赚取的资金来来举办公共庆典来获得影响力（人气）</a:t>
            </a:r>
            <a:endParaRPr lang="zh-CN" altLang="en-US"/>
          </a:p>
          <a:p>
            <a:r>
              <a:rPr lang="zh-CN" altLang="en-US"/>
              <a:t>授权合法性：是否有非法选项及代价？</a:t>
            </a:r>
            <a:endParaRPr lang="zh-CN" altLang="en-US"/>
          </a:p>
          <a:p>
            <a:pPr indent="457200"/>
            <a:r>
              <a:rPr lang="zh-CN" altLang="en-US"/>
              <a:t>包税合同是邀标方式，由元老院协商邀请</a:t>
            </a:r>
            <a:r>
              <a:rPr lang="en-US" altLang="zh-CN"/>
              <a:t>2-3</a:t>
            </a:r>
            <a:r>
              <a:rPr lang="zh-CN" altLang="en-US"/>
              <a:t>名包税商竞标（围标）；工程是由执政官直接授予；暂不安排非法选项和代价；</a:t>
            </a:r>
            <a:endParaRPr lang="zh-CN" altLang="en-US"/>
          </a:p>
          <a:p>
            <a:r>
              <a:rPr lang="zh-CN" altLang="en-US"/>
              <a:t>土地交易：卖方是谁？是否玩家间零和？</a:t>
            </a:r>
            <a:endParaRPr lang="zh-CN" altLang="en-US"/>
          </a:p>
          <a:p>
            <a:pPr indent="457200"/>
            <a:r>
              <a:rPr lang="zh-CN" altLang="en-US"/>
              <a:t>土地师玩家控制的人物之间交易，用土地换金钱，进而服务各个派系不同的目的（争夺权力还是影响力）</a:t>
            </a:r>
            <a:endParaRPr lang="zh-CN" altLang="en-US"/>
          </a:p>
          <a:p>
            <a:r>
              <a:rPr lang="zh-CN" altLang="en-US"/>
              <a:t>骑士约束：同时持有合同数量上限？</a:t>
            </a:r>
            <a:endParaRPr lang="zh-CN" altLang="en-US"/>
          </a:p>
          <a:p>
            <a:pPr indent="457200"/>
            <a:r>
              <a:rPr lang="zh-CN" altLang="en-US"/>
              <a:t>主要依靠金钱来约束；人物之间的金钱可以借贷转移；</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罗马鹰旗</a:t>
            </a:r>
            <a:r>
              <a:rPr lang="en-US" altLang="zh-CN"/>
              <a:t>EOR UI</a:t>
            </a:r>
            <a:r>
              <a:rPr lang="zh-CN" altLang="en-US"/>
              <a:t>设定书</a:t>
            </a:r>
            <a:endParaRPr lang="zh-CN" altLang="en-US"/>
          </a:p>
        </p:txBody>
      </p:sp>
      <p:sp>
        <p:nvSpPr>
          <p:cNvPr id="3" name="副标题 2"/>
          <p:cNvSpPr>
            <a:spLocks noGrp="1"/>
          </p:cNvSpPr>
          <p:nvPr>
            <p:ph type="subTitle" idx="1"/>
          </p:nvPr>
        </p:nvSpPr>
        <p:spPr/>
        <p:txBody>
          <a:bodyPr/>
          <a:lstStyle/>
          <a:p>
            <a:r>
              <a:rPr lang="en-US" altLang="zh-CN"/>
              <a:t>2026.01.25</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5250"/>
            <a:ext cx="10515600" cy="1129665"/>
          </a:xfrm>
        </p:spPr>
        <p:txBody>
          <a:bodyPr/>
          <a:lstStyle/>
          <a:p>
            <a:r>
              <a:rPr lang="zh-CN" altLang="en-US"/>
              <a:t>整体界面设定</a:t>
            </a:r>
            <a:endParaRPr lang="zh-CN" altLang="en-US"/>
          </a:p>
        </p:txBody>
      </p:sp>
      <p:grpSp>
        <p:nvGrpSpPr>
          <p:cNvPr id="30" name="组合 29"/>
          <p:cNvGrpSpPr/>
          <p:nvPr/>
        </p:nvGrpSpPr>
        <p:grpSpPr>
          <a:xfrm>
            <a:off x="645795" y="1224915"/>
            <a:ext cx="10931525" cy="5208905"/>
            <a:chOff x="1017" y="1929"/>
            <a:chExt cx="17215" cy="8203"/>
          </a:xfrm>
        </p:grpSpPr>
        <p:sp>
          <p:nvSpPr>
            <p:cNvPr id="4" name="流程图: 过程 3"/>
            <p:cNvSpPr/>
            <p:nvPr/>
          </p:nvSpPr>
          <p:spPr>
            <a:xfrm>
              <a:off x="1019" y="1929"/>
              <a:ext cx="17213" cy="8203"/>
            </a:xfrm>
            <a:prstGeom prst="flowChartProcess">
              <a:avLst/>
            </a:prstGeom>
            <a:blipFill rotWithShape="1">
              <a:blip r:embed="rId1"/>
              <a:stretch>
                <a:fillRect/>
              </a:stretch>
            </a:blip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5" name="文本框 4"/>
            <p:cNvSpPr txBox="1"/>
            <p:nvPr/>
          </p:nvSpPr>
          <p:spPr>
            <a:xfrm>
              <a:off x="2303"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国库</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6" name="文本框 5"/>
            <p:cNvSpPr txBox="1"/>
            <p:nvPr/>
          </p:nvSpPr>
          <p:spPr>
            <a:xfrm>
              <a:off x="3349"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人口</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7" name="文本框 6"/>
            <p:cNvSpPr txBox="1"/>
            <p:nvPr/>
          </p:nvSpPr>
          <p:spPr>
            <a:xfrm>
              <a:off x="4395"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政治力</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8" name="文本框 7"/>
            <p:cNvSpPr txBox="1"/>
            <p:nvPr/>
          </p:nvSpPr>
          <p:spPr>
            <a:xfrm>
              <a:off x="5441"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军事力</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9" name="文本框 8"/>
            <p:cNvSpPr txBox="1"/>
            <p:nvPr/>
          </p:nvSpPr>
          <p:spPr>
            <a:xfrm>
              <a:off x="6487"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稳定度</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0" name="文本框 9"/>
            <p:cNvSpPr txBox="1"/>
            <p:nvPr/>
          </p:nvSpPr>
          <p:spPr>
            <a:xfrm>
              <a:off x="7533"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腐败度</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1" name="文本框 10"/>
            <p:cNvSpPr txBox="1"/>
            <p:nvPr/>
          </p:nvSpPr>
          <p:spPr>
            <a:xfrm>
              <a:off x="8579"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侵略性</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2" name="文本框 11"/>
            <p:cNvSpPr txBox="1"/>
            <p:nvPr/>
          </p:nvSpPr>
          <p:spPr>
            <a:xfrm>
              <a:off x="9625"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厌战度</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3" name="文本框 12"/>
            <p:cNvSpPr txBox="1"/>
            <p:nvPr/>
          </p:nvSpPr>
          <p:spPr>
            <a:xfrm>
              <a:off x="10671"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支持度</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4" name="文本框 13"/>
            <p:cNvSpPr txBox="1"/>
            <p:nvPr/>
          </p:nvSpPr>
          <p:spPr>
            <a:xfrm>
              <a:off x="11717"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幸福度</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15" name="五边形 14"/>
            <p:cNvSpPr/>
            <p:nvPr/>
          </p:nvSpPr>
          <p:spPr>
            <a:xfrm>
              <a:off x="1019" y="2557"/>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国务</a:t>
              </a:r>
              <a:endParaRPr lang="zh-CN" altLang="en-US" sz="1600"/>
            </a:p>
          </p:txBody>
        </p:sp>
        <p:sp>
          <p:nvSpPr>
            <p:cNvPr id="16" name="五边形 15"/>
            <p:cNvSpPr/>
            <p:nvPr/>
          </p:nvSpPr>
          <p:spPr>
            <a:xfrm>
              <a:off x="1018" y="3151"/>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政务</a:t>
              </a:r>
              <a:endParaRPr lang="zh-CN" altLang="en-US" sz="1600"/>
            </a:p>
          </p:txBody>
        </p:sp>
        <p:sp>
          <p:nvSpPr>
            <p:cNvPr id="17" name="五边形 16"/>
            <p:cNvSpPr/>
            <p:nvPr/>
          </p:nvSpPr>
          <p:spPr>
            <a:xfrm>
              <a:off x="1019" y="3728"/>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财务</a:t>
              </a:r>
              <a:endParaRPr lang="zh-CN" altLang="en-US" sz="1600"/>
            </a:p>
          </p:txBody>
        </p:sp>
        <p:sp>
          <p:nvSpPr>
            <p:cNvPr id="18" name="五边形 17"/>
            <p:cNvSpPr/>
            <p:nvPr/>
          </p:nvSpPr>
          <p:spPr>
            <a:xfrm>
              <a:off x="1018" y="5501"/>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宗教</a:t>
              </a:r>
              <a:endParaRPr lang="zh-CN" altLang="en-US" sz="1600"/>
            </a:p>
          </p:txBody>
        </p:sp>
        <p:sp>
          <p:nvSpPr>
            <p:cNvPr id="19" name="五边形 18"/>
            <p:cNvSpPr/>
            <p:nvPr/>
          </p:nvSpPr>
          <p:spPr>
            <a:xfrm>
              <a:off x="1017" y="6095"/>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文化</a:t>
              </a:r>
              <a:endParaRPr lang="zh-CN" altLang="en-US" sz="1600"/>
            </a:p>
          </p:txBody>
        </p:sp>
        <p:sp>
          <p:nvSpPr>
            <p:cNvPr id="20" name="五边形 19"/>
            <p:cNvSpPr/>
            <p:nvPr/>
          </p:nvSpPr>
          <p:spPr>
            <a:xfrm>
              <a:off x="1017" y="6689"/>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贸易</a:t>
              </a:r>
              <a:endParaRPr lang="zh-CN" altLang="en-US" sz="1600"/>
            </a:p>
          </p:txBody>
        </p:sp>
        <p:sp>
          <p:nvSpPr>
            <p:cNvPr id="21" name="五边形 20"/>
            <p:cNvSpPr/>
            <p:nvPr/>
          </p:nvSpPr>
          <p:spPr>
            <a:xfrm>
              <a:off x="1018" y="4322"/>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防务</a:t>
              </a:r>
              <a:endParaRPr lang="zh-CN" altLang="en-US" sz="1600"/>
            </a:p>
          </p:txBody>
        </p:sp>
        <p:sp>
          <p:nvSpPr>
            <p:cNvPr id="22" name="五边形 21"/>
            <p:cNvSpPr/>
            <p:nvPr/>
          </p:nvSpPr>
          <p:spPr>
            <a:xfrm>
              <a:off x="1021" y="4907"/>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外交</a:t>
              </a:r>
              <a:endParaRPr lang="zh-CN" altLang="en-US" sz="1600"/>
            </a:p>
          </p:txBody>
        </p:sp>
        <p:sp>
          <p:nvSpPr>
            <p:cNvPr id="23" name="五边形 22"/>
            <p:cNvSpPr/>
            <p:nvPr/>
          </p:nvSpPr>
          <p:spPr>
            <a:xfrm>
              <a:off x="1018" y="7275"/>
              <a:ext cx="1285" cy="594"/>
            </a:xfrm>
            <a:prstGeom prst="homePlate">
              <a:avLst/>
            </a:prstGeom>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a:t>派系</a:t>
              </a:r>
              <a:endParaRPr lang="zh-CN" altLang="en-US" sz="1600"/>
            </a:p>
          </p:txBody>
        </p:sp>
        <p:sp>
          <p:nvSpPr>
            <p:cNvPr id="25" name="文本框 24"/>
            <p:cNvSpPr txBox="1"/>
            <p:nvPr/>
          </p:nvSpPr>
          <p:spPr>
            <a:xfrm>
              <a:off x="15094"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时间</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26" name="文本框 25"/>
            <p:cNvSpPr txBox="1"/>
            <p:nvPr/>
          </p:nvSpPr>
          <p:spPr>
            <a:xfrm>
              <a:off x="16140"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事件</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27" name="文本框 26"/>
            <p:cNvSpPr txBox="1"/>
            <p:nvPr/>
          </p:nvSpPr>
          <p:spPr>
            <a:xfrm>
              <a:off x="17186"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菜单</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28" name="文本框 27"/>
            <p:cNvSpPr txBox="1"/>
            <p:nvPr/>
          </p:nvSpPr>
          <p:spPr>
            <a:xfrm>
              <a:off x="14048" y="1929"/>
              <a:ext cx="1046" cy="434"/>
            </a:xfrm>
            <a:prstGeom prst="rect">
              <a:avLst/>
            </a:prstGeom>
            <a:gradFill>
              <a:gsLst>
                <a:gs pos="50000">
                  <a:schemeClr val="accent4"/>
                </a:gs>
                <a:gs pos="0">
                  <a:schemeClr val="accent4">
                    <a:lumMod val="25000"/>
                    <a:lumOff val="75000"/>
                  </a:schemeClr>
                </a:gs>
                <a:gs pos="100000">
                  <a:schemeClr val="accent4">
                    <a:lumMod val="85000"/>
                  </a:schemeClr>
                </a:gs>
              </a:gsLst>
              <a:lin ang="5400000" scaled="1"/>
            </a:gradFill>
            <a:ln>
              <a:solidFill>
                <a:schemeClr val="tx1"/>
              </a:solidFill>
            </a:ln>
          </p:spPr>
          <p:txBody>
            <a:bodyPr wrap="square" rtlCol="0">
              <a:spAutoFit/>
              <a:scene3d>
                <a:camera prst="orthographicFront"/>
                <a:lightRig rig="threePt" dir="t"/>
              </a:scene3d>
            </a:bodyPr>
            <a:lstStyle/>
            <a:p>
              <a:pPr algn="ctr"/>
              <a:r>
                <a:rPr lang="zh-CN" altLang="en-US" sz="1200">
                  <a:solidFill>
                    <a:schemeClr val="accent1"/>
                  </a:solidFill>
                  <a:effectLst>
                    <a:outerShdw blurRad="38100" dist="25400" dir="5400000" algn="ctr" rotWithShape="0">
                      <a:srgbClr val="6E747A">
                        <a:alpha val="43000"/>
                      </a:srgbClr>
                    </a:outerShdw>
                  </a:effectLst>
                </a:rPr>
                <a:t>报表</a:t>
              </a:r>
              <a:endParaRPr lang="zh-CN" altLang="en-US" sz="1200">
                <a:solidFill>
                  <a:schemeClr val="accent1"/>
                </a:solidFill>
                <a:effectLst>
                  <a:outerShdw blurRad="38100" dist="25400" dir="5400000" algn="ctr" rotWithShape="0">
                    <a:srgbClr val="6E747A">
                      <a:alpha val="43000"/>
                    </a:srgbClr>
                  </a:outerShdw>
                </a:effectLst>
              </a:endParaRPr>
            </a:p>
          </p:txBody>
        </p:sp>
        <p:sp>
          <p:nvSpPr>
            <p:cNvPr id="29" name="竖卷形 28"/>
            <p:cNvSpPr/>
            <p:nvPr/>
          </p:nvSpPr>
          <p:spPr>
            <a:xfrm>
              <a:off x="15293" y="2557"/>
              <a:ext cx="2877" cy="7295"/>
            </a:xfrm>
            <a:prstGeom prst="verticalScroll">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l"/>
              <a:r>
                <a:rPr lang="zh-CN" altLang="en-US" b="1" u="sng"/>
                <a:t>军团</a:t>
              </a:r>
              <a:endParaRPr lang="zh-CN" altLang="en-US" b="1" u="sng"/>
            </a:p>
            <a:p>
              <a:pPr algn="l"/>
              <a:endParaRPr lang="zh-CN" altLang="en-US"/>
            </a:p>
            <a:p>
              <a:pPr algn="l"/>
              <a:endParaRPr lang="zh-CN" altLang="en-US"/>
            </a:p>
            <a:p>
              <a:pPr algn="l"/>
              <a:endParaRPr lang="zh-CN" altLang="en-US"/>
            </a:p>
            <a:p>
              <a:pPr algn="l"/>
              <a:endParaRPr lang="zh-CN" altLang="en-US"/>
            </a:p>
            <a:p>
              <a:pPr algn="l"/>
              <a:r>
                <a:rPr lang="zh-CN" altLang="en-US" b="1" u="sng"/>
                <a:t>舰队</a:t>
              </a:r>
              <a:endParaRPr lang="zh-CN" altLang="en-US" b="1" u="sng"/>
            </a:p>
            <a:p>
              <a:pPr algn="l"/>
              <a:endParaRPr lang="zh-CN" altLang="en-US"/>
            </a:p>
            <a:p>
              <a:pPr algn="l"/>
              <a:endParaRPr lang="zh-CN" altLang="en-US"/>
            </a:p>
            <a:p>
              <a:pPr algn="l"/>
              <a:endParaRPr lang="zh-CN" altLang="en-US"/>
            </a:p>
            <a:p>
              <a:pPr algn="l"/>
              <a:endParaRPr lang="zh-CN" altLang="en-US"/>
            </a:p>
            <a:p>
              <a:pPr algn="l"/>
              <a:r>
                <a:rPr lang="zh-CN" altLang="en-US" b="1" u="sng"/>
                <a:t>行省</a:t>
              </a:r>
              <a:endParaRPr lang="zh-CN" altLang="en-US" b="1" u="sng"/>
            </a:p>
            <a:p>
              <a:pPr algn="l"/>
              <a:endParaRPr lang="zh-CN" altLang="en-US" b="1" u="sng"/>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p:cNvSpPr/>
          <p:nvPr/>
        </p:nvSpPr>
        <p:spPr>
          <a:xfrm>
            <a:off x="3313745" y="605937"/>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胜败条件判决</a:t>
            </a:r>
            <a:endParaRPr lang="zh-CN" altLang="en-US" sz="1200" dirty="0">
              <a:solidFill>
                <a:srgbClr val="00B050"/>
              </a:solidFill>
            </a:endParaRPr>
          </a:p>
          <a:p>
            <a:pPr marL="228600" indent="-228600">
              <a:buAutoNum type="arabicPeriod"/>
            </a:pPr>
            <a:r>
              <a:rPr lang="zh-CN" altLang="en-US" sz="1200" dirty="0">
                <a:solidFill>
                  <a:srgbClr val="00B050"/>
                </a:solidFill>
              </a:rPr>
              <a:t>数值衰减结算</a:t>
            </a:r>
            <a:endParaRPr lang="zh-CN" altLang="en-US" sz="1200" dirty="0">
              <a:solidFill>
                <a:srgbClr val="00B050"/>
              </a:solidFill>
            </a:endParaRPr>
          </a:p>
          <a:p>
            <a:pPr marL="685800" lvl="1" indent="-228600">
              <a:buFont typeface="+mj-ea"/>
              <a:buAutoNum type="circleNumDbPlain"/>
            </a:pPr>
            <a:r>
              <a:rPr lang="zh-CN" altLang="en-AU" sz="1200" dirty="0">
                <a:solidFill>
                  <a:srgbClr val="00B050"/>
                </a:solidFill>
              </a:rPr>
              <a:t>平民人气</a:t>
            </a:r>
            <a:endParaRPr lang="zh-CN" altLang="en-AU" sz="1200" dirty="0">
              <a:solidFill>
                <a:srgbClr val="00B050"/>
              </a:solidFill>
            </a:endParaRPr>
          </a:p>
          <a:p>
            <a:pPr marL="685800" lvl="1" indent="-228600">
              <a:buFont typeface="+mj-ea"/>
              <a:buAutoNum type="circleNumDbPlain"/>
            </a:pPr>
            <a:r>
              <a:rPr lang="zh-CN" altLang="en-AU" sz="1200" dirty="0">
                <a:solidFill>
                  <a:srgbClr val="00B050"/>
                </a:solidFill>
              </a:rPr>
              <a:t>老兵支持</a:t>
            </a:r>
            <a:endParaRPr lang="zh-CN" altLang="en-AU" sz="1200" dirty="0">
              <a:solidFill>
                <a:srgbClr val="00B050"/>
              </a:solidFill>
            </a:endParaRPr>
          </a:p>
        </p:txBody>
      </p:sp>
      <p:sp>
        <p:nvSpPr>
          <p:cNvPr id="9" name="Rectangle: Rounded Corners 8"/>
          <p:cNvSpPr/>
          <p:nvPr/>
        </p:nvSpPr>
        <p:spPr>
          <a:xfrm>
            <a:off x="2818067" y="2968246"/>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战斗</a:t>
            </a:r>
            <a:r>
              <a:rPr lang="en-AU" altLang="zh-CN" sz="1200" dirty="0">
                <a:solidFill>
                  <a:srgbClr val="00B050"/>
                </a:solidFill>
              </a:rPr>
              <a:t>CRT</a:t>
            </a:r>
            <a:r>
              <a:rPr lang="zh-CN" altLang="en-US" sz="1200" dirty="0">
                <a:solidFill>
                  <a:srgbClr val="00B050"/>
                </a:solidFill>
              </a:rPr>
              <a:t>结算</a:t>
            </a:r>
            <a:endParaRPr lang="en-AU" altLang="zh-CN" sz="1200" dirty="0">
              <a:solidFill>
                <a:srgbClr val="00B050"/>
              </a:solidFill>
            </a:endParaRPr>
          </a:p>
          <a:p>
            <a:pPr marL="228600" indent="-228600">
              <a:buAutoNum type="arabicPeriod"/>
            </a:pPr>
            <a:r>
              <a:rPr lang="zh-CN" altLang="en-US" sz="1200" dirty="0">
                <a:solidFill>
                  <a:srgbClr val="00B050"/>
                </a:solidFill>
              </a:rPr>
              <a:t>战利品结算</a:t>
            </a:r>
            <a:endParaRPr lang="en-AU" altLang="zh-CN" sz="1200" dirty="0">
              <a:solidFill>
                <a:srgbClr val="00B050"/>
              </a:solidFill>
            </a:endParaRPr>
          </a:p>
          <a:p>
            <a:pPr marL="228600" indent="-228600">
              <a:buAutoNum type="arabicPeriod"/>
            </a:pPr>
            <a:endParaRPr lang="en-AU" altLang="zh-CN" sz="1200" dirty="0">
              <a:solidFill>
                <a:srgbClr val="00B050"/>
              </a:solidFill>
            </a:endParaRPr>
          </a:p>
        </p:txBody>
      </p:sp>
      <p:sp>
        <p:nvSpPr>
          <p:cNvPr id="8" name="Rectangle: Rounded Corners 7"/>
          <p:cNvSpPr/>
          <p:nvPr/>
        </p:nvSpPr>
        <p:spPr>
          <a:xfrm>
            <a:off x="4787980" y="4888008"/>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宣战</a:t>
            </a:r>
            <a:r>
              <a:rPr lang="en-US" altLang="zh-CN" sz="1200" dirty="0">
                <a:solidFill>
                  <a:srgbClr val="00B050"/>
                </a:solidFill>
              </a:rPr>
              <a:t>/</a:t>
            </a:r>
            <a:r>
              <a:rPr lang="zh-CN" altLang="en-US" sz="1200" dirty="0"/>
              <a:t>议和</a:t>
            </a:r>
            <a:endParaRPr lang="zh-CN" altLang="en-US" sz="1200" dirty="0"/>
          </a:p>
          <a:p>
            <a:pPr marL="685800" lvl="1" indent="-228600">
              <a:buFont typeface="+mj-ea"/>
              <a:buAutoNum type="circleNumDbPlain"/>
            </a:pPr>
            <a:r>
              <a:rPr lang="zh-CN" altLang="en-US" sz="1200" dirty="0">
                <a:solidFill>
                  <a:srgbClr val="00B050"/>
                </a:solidFill>
              </a:rPr>
              <a:t>任命司令</a:t>
            </a:r>
            <a:endParaRPr lang="zh-CN" altLang="en-US" sz="1200" dirty="0">
              <a:solidFill>
                <a:srgbClr val="00B050"/>
              </a:solidFill>
            </a:endParaRPr>
          </a:p>
          <a:p>
            <a:pPr marL="685800" lvl="1" indent="-228600">
              <a:buFont typeface="+mj-ea"/>
              <a:buAutoNum type="circleNumDbPlain"/>
            </a:pPr>
            <a:r>
              <a:rPr lang="zh-CN" altLang="en-US" sz="1200" dirty="0">
                <a:solidFill>
                  <a:srgbClr val="00B050"/>
                </a:solidFill>
              </a:rPr>
              <a:t>征召军团</a:t>
            </a:r>
            <a:endParaRPr lang="zh-CN" altLang="en-US" sz="1200" dirty="0">
              <a:solidFill>
                <a:srgbClr val="00B050"/>
              </a:solidFill>
            </a:endParaRPr>
          </a:p>
          <a:p>
            <a:pPr marL="228600" indent="-228600">
              <a:buAutoNum type="arabicPeriod"/>
            </a:pPr>
            <a:r>
              <a:rPr lang="zh-CN" altLang="en-US" sz="1200" dirty="0"/>
              <a:t>任命总督</a:t>
            </a:r>
            <a:endParaRPr lang="zh-CN" altLang="en-US" sz="1200" dirty="0"/>
          </a:p>
          <a:p>
            <a:pPr marL="228600" indent="-228600">
              <a:buAutoNum type="arabicPeriod"/>
            </a:pPr>
            <a:r>
              <a:rPr lang="zh-CN" altLang="en-US" sz="1200" dirty="0"/>
              <a:t>审判总督</a:t>
            </a:r>
            <a:endParaRPr lang="en-AU" altLang="zh-CN" sz="1200" dirty="0"/>
          </a:p>
          <a:p>
            <a:pPr marL="228600" indent="-228600">
              <a:buAutoNum type="arabicPeriod"/>
            </a:pPr>
            <a:r>
              <a:rPr lang="zh-CN" altLang="en-US" sz="1200" dirty="0">
                <a:solidFill>
                  <a:srgbClr val="00B050"/>
                </a:solidFill>
              </a:rPr>
              <a:t>投票法案</a:t>
            </a:r>
            <a:endParaRPr lang="zh-CN" altLang="en-US" sz="1200" dirty="0">
              <a:solidFill>
                <a:srgbClr val="00B050"/>
              </a:solidFill>
            </a:endParaRPr>
          </a:p>
          <a:p>
            <a:pPr marL="685800" lvl="1" indent="-228600">
              <a:buFont typeface="+mj-ea"/>
              <a:buAutoNum type="circleNumDbPlain"/>
            </a:pPr>
            <a:r>
              <a:rPr lang="zh-CN" altLang="en-US" sz="1200" dirty="0">
                <a:solidFill>
                  <a:srgbClr val="00B050"/>
                </a:solidFill>
              </a:rPr>
              <a:t>合同分包</a:t>
            </a:r>
            <a:endParaRPr lang="en-AU" altLang="zh-CN" sz="1200" dirty="0">
              <a:solidFill>
                <a:srgbClr val="00B050"/>
              </a:solidFill>
            </a:endParaRPr>
          </a:p>
          <a:p>
            <a:pPr marL="685800" lvl="1" indent="-228600">
              <a:buFont typeface="+mj-ea"/>
              <a:buAutoNum type="circleNumDbPlain"/>
            </a:pPr>
            <a:r>
              <a:rPr lang="zh-CN" altLang="en-AU" sz="1200" dirty="0">
                <a:solidFill>
                  <a:srgbClr val="00B050"/>
                </a:solidFill>
              </a:rPr>
              <a:t>土地法案</a:t>
            </a:r>
            <a:endParaRPr lang="zh-CN" altLang="en-AU" sz="1200" dirty="0">
              <a:solidFill>
                <a:srgbClr val="00B050"/>
              </a:solidFill>
            </a:endParaRPr>
          </a:p>
        </p:txBody>
      </p:sp>
      <p:sp>
        <p:nvSpPr>
          <p:cNvPr id="7" name="Rectangle: Rounded Corners 6"/>
          <p:cNvSpPr/>
          <p:nvPr/>
        </p:nvSpPr>
        <p:spPr>
          <a:xfrm>
            <a:off x="6489625" y="4876578"/>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军团凯旋</a:t>
            </a:r>
            <a:endParaRPr lang="en-AU" altLang="zh-CN" sz="1200" dirty="0">
              <a:solidFill>
                <a:srgbClr val="00B050"/>
              </a:solidFill>
            </a:endParaRPr>
          </a:p>
          <a:p>
            <a:pPr marL="228600" indent="-228600">
              <a:buAutoNum type="arabicPeriod"/>
            </a:pPr>
            <a:r>
              <a:rPr lang="zh-CN" altLang="en-US" sz="1200" dirty="0">
                <a:solidFill>
                  <a:srgbClr val="00B050"/>
                </a:solidFill>
              </a:rPr>
              <a:t>公共庆典</a:t>
            </a:r>
            <a:endParaRPr lang="en-AU" altLang="zh-CN" sz="1200" dirty="0">
              <a:solidFill>
                <a:srgbClr val="00B050"/>
              </a:solidFill>
            </a:endParaRPr>
          </a:p>
          <a:p>
            <a:pPr marL="228600" indent="-228600">
              <a:buAutoNum type="arabicPeriod"/>
            </a:pPr>
            <a:r>
              <a:rPr lang="zh-CN" altLang="en-US" sz="1200" dirty="0">
                <a:solidFill>
                  <a:srgbClr val="00B050"/>
                </a:solidFill>
              </a:rPr>
              <a:t>公职竞选</a:t>
            </a:r>
            <a:endParaRPr lang="zh-CN" altLang="en-US" sz="1200" dirty="0">
              <a:solidFill>
                <a:srgbClr val="00B050"/>
              </a:solidFill>
            </a:endParaRPr>
          </a:p>
          <a:p>
            <a:pPr marL="228600" indent="-228600">
              <a:buAutoNum type="arabicPeriod"/>
            </a:pPr>
            <a:endParaRPr lang="en-AU" altLang="zh-CN" sz="1200" dirty="0"/>
          </a:p>
          <a:p>
            <a:pPr marL="228600" indent="-228600">
              <a:buAutoNum type="arabicPeriod"/>
            </a:pPr>
            <a:endParaRPr lang="en-AU" sz="1200" dirty="0"/>
          </a:p>
        </p:txBody>
      </p:sp>
      <p:sp>
        <p:nvSpPr>
          <p:cNvPr id="6" name="Rectangle: Rounded Corners 5"/>
          <p:cNvSpPr/>
          <p:nvPr/>
        </p:nvSpPr>
        <p:spPr>
          <a:xfrm>
            <a:off x="8341836" y="2693081"/>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新人招募（手）</a:t>
            </a:r>
            <a:endParaRPr lang="en-AU" altLang="zh-CN" sz="1200" dirty="0">
              <a:solidFill>
                <a:srgbClr val="00B050"/>
              </a:solidFill>
            </a:endParaRPr>
          </a:p>
          <a:p>
            <a:pPr marL="228600" indent="-228600">
              <a:buAutoNum type="arabicPeriod"/>
            </a:pPr>
            <a:r>
              <a:rPr lang="zh-CN" altLang="en-US" sz="1200" dirty="0">
                <a:solidFill>
                  <a:srgbClr val="00B050"/>
                </a:solidFill>
              </a:rPr>
              <a:t>土地交易</a:t>
            </a:r>
            <a:r>
              <a:rPr lang="zh-CN" altLang="en-US" sz="1200" dirty="0">
                <a:solidFill>
                  <a:srgbClr val="00B050"/>
                </a:solidFill>
                <a:sym typeface="+mn-ea"/>
              </a:rPr>
              <a:t>（手）</a:t>
            </a:r>
            <a:endParaRPr lang="en-AU" altLang="zh-CN" sz="1200" dirty="0">
              <a:solidFill>
                <a:srgbClr val="00B050"/>
              </a:solidFill>
            </a:endParaRPr>
          </a:p>
          <a:p>
            <a:pPr marL="228600" indent="-228600">
              <a:buAutoNum type="arabicPeriod"/>
            </a:pPr>
            <a:r>
              <a:rPr lang="zh-CN" altLang="en-US" sz="1200" dirty="0">
                <a:solidFill>
                  <a:srgbClr val="00B050"/>
                </a:solidFill>
              </a:rPr>
              <a:t>合同竞标</a:t>
            </a:r>
            <a:r>
              <a:rPr lang="zh-CN" altLang="en-US" sz="1200" dirty="0">
                <a:solidFill>
                  <a:srgbClr val="00B050"/>
                </a:solidFill>
                <a:sym typeface="+mn-ea"/>
              </a:rPr>
              <a:t>（手）</a:t>
            </a:r>
            <a:endParaRPr lang="zh-CN" altLang="en-US" sz="1200" dirty="0">
              <a:solidFill>
                <a:srgbClr val="00B050"/>
              </a:solidFill>
              <a:sym typeface="+mn-ea"/>
            </a:endParaRPr>
          </a:p>
          <a:p>
            <a:pPr marL="228600" indent="-228600">
              <a:buAutoNum type="arabicPeriod"/>
            </a:pPr>
            <a:r>
              <a:rPr lang="zh-CN" altLang="en-US" sz="1200" dirty="0">
                <a:solidFill>
                  <a:srgbClr val="00B050"/>
                </a:solidFill>
              </a:rPr>
              <a:t>凯旋审批</a:t>
            </a:r>
            <a:r>
              <a:rPr lang="zh-CN" altLang="en-US" sz="1200" dirty="0">
                <a:solidFill>
                  <a:srgbClr val="00B050"/>
                </a:solidFill>
                <a:sym typeface="+mn-ea"/>
              </a:rPr>
              <a:t>（手）</a:t>
            </a:r>
            <a:endParaRPr lang="zh-CN" altLang="en-US" sz="1200" dirty="0">
              <a:solidFill>
                <a:srgbClr val="00B050"/>
              </a:solidFill>
              <a:sym typeface="+mn-ea"/>
            </a:endParaRPr>
          </a:p>
          <a:p>
            <a:pPr marL="228600" indent="-228600">
              <a:buAutoNum type="arabicPeriod"/>
            </a:pPr>
            <a:r>
              <a:rPr lang="zh-CN" altLang="en-US" sz="1200" dirty="0">
                <a:solidFill>
                  <a:srgbClr val="00B050"/>
                </a:solidFill>
                <a:sym typeface="+mn-ea"/>
              </a:rPr>
              <a:t>战争威胁</a:t>
            </a:r>
            <a:endParaRPr lang="zh-CN" altLang="en-US" sz="1200" dirty="0">
              <a:solidFill>
                <a:srgbClr val="00B050"/>
              </a:solidFill>
              <a:sym typeface="+mn-ea"/>
            </a:endParaRPr>
          </a:p>
          <a:p>
            <a:pPr marL="228600" indent="-228600">
              <a:buAutoNum type="arabicPeriod"/>
            </a:pPr>
            <a:r>
              <a:rPr lang="zh-CN" altLang="en-US" sz="1200" dirty="0">
                <a:solidFill>
                  <a:srgbClr val="00B050"/>
                </a:solidFill>
                <a:sym typeface="+mn-ea"/>
              </a:rPr>
              <a:t>民变威胁</a:t>
            </a:r>
            <a:endParaRPr lang="zh-CN" altLang="en-US" sz="1200" dirty="0">
              <a:solidFill>
                <a:srgbClr val="00B050"/>
              </a:solidFill>
              <a:sym typeface="+mn-ea"/>
            </a:endParaRPr>
          </a:p>
          <a:p>
            <a:pPr marL="228600" indent="-228600">
              <a:buAutoNum type="arabicPeriod"/>
            </a:pPr>
            <a:endParaRPr lang="zh-CN" altLang="en-US" sz="1200" dirty="0"/>
          </a:p>
          <a:p>
            <a:pPr marL="228600" indent="-228600">
              <a:buAutoNum type="arabicPeriod"/>
            </a:pPr>
            <a:endParaRPr lang="en-AU" altLang="zh-CN" sz="1200" dirty="0"/>
          </a:p>
          <a:p>
            <a:pPr marL="228600" indent="-228600">
              <a:buAutoNum type="arabicPeriod"/>
            </a:pPr>
            <a:endParaRPr lang="en-AU" altLang="zh-CN" sz="1200" dirty="0"/>
          </a:p>
          <a:p>
            <a:pPr marL="228600" indent="-228600">
              <a:buAutoNum type="arabicPeriod"/>
            </a:pPr>
            <a:endParaRPr lang="en-AU" altLang="zh-CN" sz="1200" dirty="0"/>
          </a:p>
          <a:p>
            <a:pPr marL="228600" indent="-228600">
              <a:buAutoNum type="arabicPeriod"/>
            </a:pPr>
            <a:endParaRPr lang="en-AU" sz="1200" dirty="0"/>
          </a:p>
        </p:txBody>
      </p:sp>
      <p:sp>
        <p:nvSpPr>
          <p:cNvPr id="5" name="Rectangle: Rounded Corners 4"/>
          <p:cNvSpPr/>
          <p:nvPr/>
        </p:nvSpPr>
        <p:spPr>
          <a:xfrm>
            <a:off x="7643964" y="497941"/>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pPr marL="228600" indent="-228600">
              <a:buAutoNum type="arabicPeriod"/>
            </a:pPr>
            <a:r>
              <a:rPr lang="zh-CN" altLang="en-US" sz="1200" dirty="0">
                <a:solidFill>
                  <a:srgbClr val="00B050"/>
                </a:solidFill>
              </a:rPr>
              <a:t>国库结算</a:t>
            </a:r>
            <a:endParaRPr lang="zh-CN" altLang="en-US" sz="1200" dirty="0">
              <a:solidFill>
                <a:srgbClr val="00B050"/>
              </a:solidFill>
            </a:endParaRPr>
          </a:p>
          <a:p>
            <a:pPr marL="228600" indent="-228600">
              <a:buAutoNum type="arabicPeriod"/>
            </a:pPr>
            <a:r>
              <a:rPr lang="zh-CN" altLang="en-AU" sz="1200" dirty="0">
                <a:solidFill>
                  <a:srgbClr val="00B050"/>
                </a:solidFill>
              </a:rPr>
              <a:t>派系结算</a:t>
            </a:r>
            <a:endParaRPr lang="en-AU" altLang="zh-CN" sz="1200" dirty="0">
              <a:solidFill>
                <a:srgbClr val="00B050"/>
              </a:solidFill>
            </a:endParaRPr>
          </a:p>
          <a:p>
            <a:pPr marL="228600" indent="-228600">
              <a:buAutoNum type="arabicPeriod"/>
            </a:pPr>
            <a:r>
              <a:rPr lang="zh-CN" altLang="en-US" sz="1200" dirty="0">
                <a:solidFill>
                  <a:srgbClr val="00B050"/>
                </a:solidFill>
              </a:rPr>
              <a:t>私人结算</a:t>
            </a:r>
            <a:endParaRPr lang="zh-CN" altLang="en-US" sz="1200" dirty="0">
              <a:solidFill>
                <a:srgbClr val="00B050"/>
              </a:solidFill>
            </a:endParaRPr>
          </a:p>
        </p:txBody>
      </p:sp>
      <p:sp>
        <p:nvSpPr>
          <p:cNvPr id="4" name="Rectangle: Rounded Corners 3"/>
          <p:cNvSpPr/>
          <p:nvPr/>
        </p:nvSpPr>
        <p:spPr>
          <a:xfrm>
            <a:off x="5579951" y="0"/>
            <a:ext cx="1702052" cy="175637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p>
            <a:r>
              <a:rPr lang="en-AU" sz="1200" dirty="0">
                <a:solidFill>
                  <a:srgbClr val="00B050"/>
                </a:solidFill>
              </a:rPr>
              <a:t>1.</a:t>
            </a:r>
            <a:r>
              <a:rPr lang="zh-CN" altLang="en-US" sz="1200" dirty="0">
                <a:solidFill>
                  <a:srgbClr val="00B050"/>
                </a:solidFill>
              </a:rPr>
              <a:t>死亡抽签</a:t>
            </a:r>
            <a:endParaRPr lang="en-AU" altLang="zh-CN" sz="1200" dirty="0">
              <a:solidFill>
                <a:srgbClr val="00B050"/>
              </a:solidFill>
            </a:endParaRPr>
          </a:p>
          <a:p>
            <a:r>
              <a:rPr lang="en-AU" sz="1200" dirty="0"/>
              <a:t>2</a:t>
            </a:r>
            <a:r>
              <a:rPr lang="en-US" altLang="zh-CN" sz="1200" dirty="0"/>
              <a:t>.</a:t>
            </a:r>
            <a:r>
              <a:rPr lang="zh-CN" altLang="en-US" sz="1200" dirty="0"/>
              <a:t>神谕启示</a:t>
            </a:r>
            <a:endParaRPr lang="en-AU" sz="1200" dirty="0"/>
          </a:p>
        </p:txBody>
      </p:sp>
      <p:graphicFrame>
        <p:nvGraphicFramePr>
          <p:cNvPr id="3" name="Diagram 2"/>
          <p:cNvGraphicFramePr/>
          <p:nvPr/>
        </p:nvGraphicFramePr>
        <p:xfrm>
          <a:off x="3822248" y="1484123"/>
          <a:ext cx="5217459" cy="340409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4705350" y="1874520"/>
            <a:ext cx="914400" cy="91440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权力</a:t>
            </a:r>
            <a:endParaRPr lang="zh-CN" altLang="en-US"/>
          </a:p>
        </p:txBody>
      </p:sp>
      <p:sp>
        <p:nvSpPr>
          <p:cNvPr id="5" name="椭圆 4"/>
          <p:cNvSpPr/>
          <p:nvPr/>
        </p:nvSpPr>
        <p:spPr>
          <a:xfrm>
            <a:off x="6302375" y="3825875"/>
            <a:ext cx="914400" cy="91440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金钱</a:t>
            </a:r>
            <a:endParaRPr lang="zh-CN" altLang="en-US"/>
          </a:p>
        </p:txBody>
      </p:sp>
      <p:sp>
        <p:nvSpPr>
          <p:cNvPr id="6" name="椭圆 5"/>
          <p:cNvSpPr/>
          <p:nvPr/>
        </p:nvSpPr>
        <p:spPr>
          <a:xfrm>
            <a:off x="3199130" y="3825875"/>
            <a:ext cx="914400" cy="91440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影响力</a:t>
            </a:r>
            <a:endParaRPr lang="zh-CN" altLang="en-US"/>
          </a:p>
        </p:txBody>
      </p:sp>
      <p:sp>
        <p:nvSpPr>
          <p:cNvPr id="7" name="右箭头 6"/>
          <p:cNvSpPr/>
          <p:nvPr/>
        </p:nvSpPr>
        <p:spPr>
          <a:xfrm rot="3120000">
            <a:off x="5605145" y="2980055"/>
            <a:ext cx="97917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授权</a:t>
            </a:r>
            <a:endParaRPr lang="zh-CN" altLang="en-US"/>
          </a:p>
        </p:txBody>
      </p:sp>
      <p:sp>
        <p:nvSpPr>
          <p:cNvPr id="9" name="右箭头 8"/>
          <p:cNvSpPr/>
          <p:nvPr/>
        </p:nvSpPr>
        <p:spPr>
          <a:xfrm rot="18480000">
            <a:off x="3852545" y="2987040"/>
            <a:ext cx="97917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竞选</a:t>
            </a:r>
            <a:endParaRPr lang="zh-CN" altLang="en-US"/>
          </a:p>
        </p:txBody>
      </p:sp>
      <p:sp>
        <p:nvSpPr>
          <p:cNvPr id="10" name="左箭头 9"/>
          <p:cNvSpPr/>
          <p:nvPr/>
        </p:nvSpPr>
        <p:spPr>
          <a:xfrm>
            <a:off x="4707255" y="4040505"/>
            <a:ext cx="979170" cy="48577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资金</a:t>
            </a:r>
            <a:endParaRPr lang="zh-CN" altLang="en-US"/>
          </a:p>
        </p:txBody>
      </p:sp>
      <p:sp>
        <p:nvSpPr>
          <p:cNvPr id="11" name="圆角矩形 10"/>
          <p:cNvSpPr/>
          <p:nvPr/>
        </p:nvSpPr>
        <p:spPr>
          <a:xfrm>
            <a:off x="7832725" y="371602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合同</a:t>
            </a:r>
            <a:endParaRPr lang="zh-CN" altLang="en-US"/>
          </a:p>
        </p:txBody>
      </p:sp>
      <p:sp>
        <p:nvSpPr>
          <p:cNvPr id="12" name="圆角矩形 11"/>
          <p:cNvSpPr/>
          <p:nvPr/>
        </p:nvSpPr>
        <p:spPr>
          <a:xfrm>
            <a:off x="7832725" y="438023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土地</a:t>
            </a:r>
            <a:endParaRPr lang="zh-CN" altLang="en-US"/>
          </a:p>
        </p:txBody>
      </p:sp>
      <p:cxnSp>
        <p:nvCxnSpPr>
          <p:cNvPr id="13" name="直接箭头连接符 12"/>
          <p:cNvCxnSpPr>
            <a:stCxn id="11" idx="1"/>
            <a:endCxn id="5" idx="6"/>
          </p:cNvCxnSpPr>
          <p:nvPr/>
        </p:nvCxnSpPr>
        <p:spPr>
          <a:xfrm flipH="1">
            <a:off x="7216775" y="3942715"/>
            <a:ext cx="615950" cy="3403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12" idx="1"/>
            <a:endCxn id="5" idx="6"/>
          </p:cNvCxnSpPr>
          <p:nvPr/>
        </p:nvCxnSpPr>
        <p:spPr>
          <a:xfrm flipH="1" flipV="1">
            <a:off x="7216775" y="4283075"/>
            <a:ext cx="615950" cy="3238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同侧圆角矩形 14"/>
          <p:cNvSpPr/>
          <p:nvPr/>
        </p:nvSpPr>
        <p:spPr>
          <a:xfrm>
            <a:off x="9491345" y="310007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包税</a:t>
            </a:r>
            <a:endParaRPr lang="zh-CN" altLang="en-US"/>
          </a:p>
        </p:txBody>
      </p:sp>
      <p:sp>
        <p:nvSpPr>
          <p:cNvPr id="16" name="同侧圆角矩形 15"/>
          <p:cNvSpPr/>
          <p:nvPr/>
        </p:nvSpPr>
        <p:spPr>
          <a:xfrm>
            <a:off x="9491345" y="371602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工程</a:t>
            </a:r>
            <a:endParaRPr lang="zh-CN" altLang="en-US"/>
          </a:p>
        </p:txBody>
      </p:sp>
      <p:sp>
        <p:nvSpPr>
          <p:cNvPr id="17" name="同侧圆角矩形 16"/>
          <p:cNvSpPr/>
          <p:nvPr/>
        </p:nvSpPr>
        <p:spPr>
          <a:xfrm>
            <a:off x="9491345" y="441325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购买</a:t>
            </a:r>
            <a:endParaRPr lang="zh-CN" altLang="en-US"/>
          </a:p>
        </p:txBody>
      </p:sp>
      <p:sp>
        <p:nvSpPr>
          <p:cNvPr id="18" name="同侧圆角矩形 17"/>
          <p:cNvSpPr/>
          <p:nvPr/>
        </p:nvSpPr>
        <p:spPr>
          <a:xfrm>
            <a:off x="9491345" y="5026025"/>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租用</a:t>
            </a:r>
            <a:endParaRPr lang="zh-CN" altLang="en-US"/>
          </a:p>
        </p:txBody>
      </p:sp>
      <p:cxnSp>
        <p:nvCxnSpPr>
          <p:cNvPr id="19" name="直接箭头连接符 18"/>
          <p:cNvCxnSpPr>
            <a:stCxn id="15" idx="2"/>
            <a:endCxn id="11" idx="3"/>
          </p:cNvCxnSpPr>
          <p:nvPr/>
        </p:nvCxnSpPr>
        <p:spPr>
          <a:xfrm flipH="1">
            <a:off x="9091930" y="3310255"/>
            <a:ext cx="399415" cy="6324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16" idx="2"/>
            <a:endCxn id="11" idx="3"/>
          </p:cNvCxnSpPr>
          <p:nvPr/>
        </p:nvCxnSpPr>
        <p:spPr>
          <a:xfrm flipH="1">
            <a:off x="9091930" y="3926205"/>
            <a:ext cx="399415" cy="165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17" idx="2"/>
            <a:endCxn id="12" idx="3"/>
          </p:cNvCxnSpPr>
          <p:nvPr/>
        </p:nvCxnSpPr>
        <p:spPr>
          <a:xfrm flipH="1" flipV="1">
            <a:off x="9091930" y="4606925"/>
            <a:ext cx="399415" cy="165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8" idx="2"/>
            <a:endCxn id="12" idx="3"/>
          </p:cNvCxnSpPr>
          <p:nvPr/>
        </p:nvCxnSpPr>
        <p:spPr>
          <a:xfrm flipH="1" flipV="1">
            <a:off x="9091930" y="4606925"/>
            <a:ext cx="399415" cy="6292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圆角矩形 22"/>
          <p:cNvSpPr/>
          <p:nvPr/>
        </p:nvSpPr>
        <p:spPr>
          <a:xfrm>
            <a:off x="1549400" y="368300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家族声望</a:t>
            </a:r>
            <a:endParaRPr lang="zh-CN" altLang="en-US"/>
          </a:p>
        </p:txBody>
      </p:sp>
      <p:sp>
        <p:nvSpPr>
          <p:cNvPr id="24" name="圆角矩形 23"/>
          <p:cNvSpPr/>
          <p:nvPr/>
        </p:nvSpPr>
        <p:spPr>
          <a:xfrm>
            <a:off x="1549400" y="4286885"/>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公共庆典</a:t>
            </a:r>
            <a:endParaRPr lang="zh-CN" altLang="en-US"/>
          </a:p>
        </p:txBody>
      </p:sp>
      <p:sp>
        <p:nvSpPr>
          <p:cNvPr id="25" name="圆角矩形 24"/>
          <p:cNvSpPr/>
          <p:nvPr/>
        </p:nvSpPr>
        <p:spPr>
          <a:xfrm>
            <a:off x="1549400" y="489077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军事胜利</a:t>
            </a:r>
            <a:endParaRPr lang="zh-CN" altLang="en-US"/>
          </a:p>
        </p:txBody>
      </p:sp>
      <p:cxnSp>
        <p:nvCxnSpPr>
          <p:cNvPr id="26" name="直接箭头连接符 25"/>
          <p:cNvCxnSpPr>
            <a:stCxn id="23" idx="3"/>
            <a:endCxn id="6" idx="1"/>
          </p:cNvCxnSpPr>
          <p:nvPr/>
        </p:nvCxnSpPr>
        <p:spPr>
          <a:xfrm>
            <a:off x="2808605" y="3909695"/>
            <a:ext cx="524510" cy="501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24" idx="3"/>
            <a:endCxn id="6" idx="2"/>
          </p:cNvCxnSpPr>
          <p:nvPr/>
        </p:nvCxnSpPr>
        <p:spPr>
          <a:xfrm flipV="1">
            <a:off x="2808605" y="4283075"/>
            <a:ext cx="390525" cy="2305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25" idx="3"/>
            <a:endCxn id="6" idx="3"/>
          </p:cNvCxnSpPr>
          <p:nvPr/>
        </p:nvCxnSpPr>
        <p:spPr>
          <a:xfrm flipV="1">
            <a:off x="2808605" y="4606290"/>
            <a:ext cx="524510" cy="511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9" name="圆角矩形 28"/>
          <p:cNvSpPr/>
          <p:nvPr/>
        </p:nvSpPr>
        <p:spPr>
          <a:xfrm>
            <a:off x="3712210" y="83820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公职</a:t>
            </a:r>
            <a:r>
              <a:rPr lang="en-US" altLang="zh-CN"/>
              <a:t>/</a:t>
            </a:r>
            <a:r>
              <a:rPr lang="zh-CN" altLang="en-US"/>
              <a:t>军职</a:t>
            </a:r>
            <a:endParaRPr lang="zh-CN" altLang="en-US"/>
          </a:p>
        </p:txBody>
      </p:sp>
      <p:cxnSp>
        <p:nvCxnSpPr>
          <p:cNvPr id="30" name="直接箭头连接符 29"/>
          <p:cNvCxnSpPr>
            <a:stCxn id="29" idx="2"/>
            <a:endCxn id="4" idx="0"/>
          </p:cNvCxnSpPr>
          <p:nvPr/>
        </p:nvCxnSpPr>
        <p:spPr>
          <a:xfrm>
            <a:off x="4342130" y="1291590"/>
            <a:ext cx="820420" cy="5829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1" name="圆角矩形 30"/>
          <p:cNvSpPr/>
          <p:nvPr/>
        </p:nvSpPr>
        <p:spPr>
          <a:xfrm>
            <a:off x="5328285" y="838200"/>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ym typeface="+mn-ea"/>
              </a:rPr>
              <a:t>席位占比</a:t>
            </a:r>
            <a:endParaRPr lang="zh-CN" altLang="en-US"/>
          </a:p>
        </p:txBody>
      </p:sp>
      <p:cxnSp>
        <p:nvCxnSpPr>
          <p:cNvPr id="32" name="直接箭头连接符 31"/>
          <p:cNvCxnSpPr>
            <a:stCxn id="31" idx="2"/>
            <a:endCxn id="4" idx="0"/>
          </p:cNvCxnSpPr>
          <p:nvPr/>
        </p:nvCxnSpPr>
        <p:spPr>
          <a:xfrm flipH="1">
            <a:off x="5162550" y="1291590"/>
            <a:ext cx="795655" cy="5829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3" name="同侧圆角矩形 32"/>
          <p:cNvSpPr/>
          <p:nvPr/>
        </p:nvSpPr>
        <p:spPr>
          <a:xfrm>
            <a:off x="1807845" y="41783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民选官</a:t>
            </a:r>
            <a:endParaRPr lang="zh-CN" altLang="en-US"/>
          </a:p>
        </p:txBody>
      </p:sp>
      <p:sp>
        <p:nvSpPr>
          <p:cNvPr id="34" name="同侧圆角矩形 33"/>
          <p:cNvSpPr/>
          <p:nvPr/>
        </p:nvSpPr>
        <p:spPr>
          <a:xfrm>
            <a:off x="1807845" y="96520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任命官</a:t>
            </a:r>
            <a:endParaRPr lang="zh-CN" altLang="en-US"/>
          </a:p>
        </p:txBody>
      </p:sp>
      <p:cxnSp>
        <p:nvCxnSpPr>
          <p:cNvPr id="35" name="直接箭头连接符 34"/>
          <p:cNvCxnSpPr>
            <a:stCxn id="33" idx="0"/>
            <a:endCxn id="29" idx="1"/>
          </p:cNvCxnSpPr>
          <p:nvPr/>
        </p:nvCxnSpPr>
        <p:spPr>
          <a:xfrm>
            <a:off x="2881630" y="628015"/>
            <a:ext cx="830580" cy="4368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6" name="直接箭头连接符 35"/>
          <p:cNvCxnSpPr>
            <a:stCxn id="34" idx="0"/>
            <a:endCxn id="29" idx="1"/>
          </p:cNvCxnSpPr>
          <p:nvPr/>
        </p:nvCxnSpPr>
        <p:spPr>
          <a:xfrm flipV="1">
            <a:off x="2881630" y="1064895"/>
            <a:ext cx="830580" cy="1104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7" name="同侧圆角矩形 36"/>
          <p:cNvSpPr/>
          <p:nvPr/>
        </p:nvSpPr>
        <p:spPr>
          <a:xfrm>
            <a:off x="7084695" y="417830"/>
            <a:ext cx="1263650"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庄园土地</a:t>
            </a:r>
            <a:endParaRPr lang="zh-CN" altLang="en-US"/>
          </a:p>
        </p:txBody>
      </p:sp>
      <p:cxnSp>
        <p:nvCxnSpPr>
          <p:cNvPr id="38" name="直接箭头连接符 37"/>
          <p:cNvCxnSpPr>
            <a:stCxn id="37" idx="2"/>
            <a:endCxn id="31" idx="3"/>
          </p:cNvCxnSpPr>
          <p:nvPr/>
        </p:nvCxnSpPr>
        <p:spPr>
          <a:xfrm flipH="1">
            <a:off x="6587490" y="628015"/>
            <a:ext cx="497205" cy="4368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9" name="同侧圆角矩形 38"/>
          <p:cNvSpPr/>
          <p:nvPr/>
        </p:nvSpPr>
        <p:spPr>
          <a:xfrm>
            <a:off x="7084695" y="965200"/>
            <a:ext cx="1263650"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效忠老兵</a:t>
            </a:r>
            <a:endParaRPr lang="zh-CN" altLang="en-US"/>
          </a:p>
        </p:txBody>
      </p:sp>
      <p:cxnSp>
        <p:nvCxnSpPr>
          <p:cNvPr id="40" name="直接箭头连接符 39"/>
          <p:cNvCxnSpPr>
            <a:stCxn id="39" idx="2"/>
            <a:endCxn id="31" idx="3"/>
          </p:cNvCxnSpPr>
          <p:nvPr/>
        </p:nvCxnSpPr>
        <p:spPr>
          <a:xfrm flipH="1" flipV="1">
            <a:off x="6587490" y="1064895"/>
            <a:ext cx="497205" cy="1104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28575" y="4363085"/>
            <a:ext cx="1577975" cy="337185"/>
          </a:xfrm>
          <a:prstGeom prst="rect">
            <a:avLst/>
          </a:prstGeom>
          <a:noFill/>
        </p:spPr>
        <p:txBody>
          <a:bodyPr wrap="square" rtlCol="0">
            <a:spAutoFit/>
          </a:bodyPr>
          <a:lstStyle/>
          <a:p>
            <a:pPr algn="ctr"/>
            <a:r>
              <a:rPr lang="zh-CN" altLang="en-US" sz="1600"/>
              <a:t>每年衰减</a:t>
            </a:r>
            <a:r>
              <a:rPr lang="en-US" altLang="zh-CN" sz="1600"/>
              <a:t>x%</a:t>
            </a:r>
            <a:endParaRPr lang="en-US" altLang="zh-CN" sz="1600"/>
          </a:p>
        </p:txBody>
      </p:sp>
      <p:sp>
        <p:nvSpPr>
          <p:cNvPr id="44" name="文本框 43"/>
          <p:cNvSpPr txBox="1"/>
          <p:nvPr/>
        </p:nvSpPr>
        <p:spPr>
          <a:xfrm>
            <a:off x="-28575" y="4926965"/>
            <a:ext cx="1577975" cy="337185"/>
          </a:xfrm>
          <a:prstGeom prst="rect">
            <a:avLst/>
          </a:prstGeom>
          <a:noFill/>
        </p:spPr>
        <p:txBody>
          <a:bodyPr wrap="square" rtlCol="0">
            <a:spAutoFit/>
          </a:bodyPr>
          <a:lstStyle/>
          <a:p>
            <a:pPr algn="ctr"/>
            <a:r>
              <a:rPr lang="zh-CN" altLang="en-US" sz="1600"/>
              <a:t>每年衰减</a:t>
            </a:r>
            <a:r>
              <a:rPr lang="en-US" altLang="zh-CN" sz="1600"/>
              <a:t>y%</a:t>
            </a:r>
            <a:endParaRPr lang="en-US" altLang="zh-CN" sz="1600"/>
          </a:p>
        </p:txBody>
      </p:sp>
      <p:sp>
        <p:nvSpPr>
          <p:cNvPr id="45" name="文本框 44"/>
          <p:cNvSpPr txBox="1"/>
          <p:nvPr/>
        </p:nvSpPr>
        <p:spPr>
          <a:xfrm>
            <a:off x="10652760" y="5026025"/>
            <a:ext cx="1054735" cy="506730"/>
          </a:xfrm>
          <a:prstGeom prst="rect">
            <a:avLst/>
          </a:prstGeom>
          <a:noFill/>
        </p:spPr>
        <p:txBody>
          <a:bodyPr wrap="square" rtlCol="0">
            <a:spAutoFit/>
          </a:bodyPr>
          <a:lstStyle/>
          <a:p>
            <a:pPr algn="ctr"/>
            <a:r>
              <a:rPr lang="zh-CN" altLang="en-US" sz="900"/>
              <a:t>公地租用</a:t>
            </a:r>
            <a:endParaRPr lang="zh-CN" altLang="en-US" sz="900"/>
          </a:p>
          <a:p>
            <a:pPr algn="ctr"/>
            <a:r>
              <a:rPr lang="zh-CN" altLang="en-US" sz="900"/>
              <a:t>租金进入国库</a:t>
            </a:r>
            <a:endParaRPr lang="zh-CN" altLang="en-US" sz="900"/>
          </a:p>
          <a:p>
            <a:pPr algn="ctr"/>
            <a:r>
              <a:rPr lang="zh-CN" altLang="en-US" sz="900"/>
              <a:t>收入归于私人</a:t>
            </a:r>
            <a:endParaRPr lang="zh-CN" altLang="en-US" sz="900"/>
          </a:p>
        </p:txBody>
      </p:sp>
      <p:sp>
        <p:nvSpPr>
          <p:cNvPr id="46" name="文本框 45"/>
          <p:cNvSpPr txBox="1"/>
          <p:nvPr/>
        </p:nvSpPr>
        <p:spPr>
          <a:xfrm>
            <a:off x="10652760" y="4434840"/>
            <a:ext cx="1054735" cy="398780"/>
          </a:xfrm>
          <a:prstGeom prst="rect">
            <a:avLst/>
          </a:prstGeom>
          <a:noFill/>
        </p:spPr>
        <p:txBody>
          <a:bodyPr wrap="square" rtlCol="0">
            <a:spAutoFit/>
          </a:bodyPr>
          <a:lstStyle/>
          <a:p>
            <a:pPr algn="ctr"/>
            <a:r>
              <a:rPr lang="zh-CN" altLang="en-US" sz="1000"/>
              <a:t>私地转售</a:t>
            </a:r>
            <a:endParaRPr lang="zh-CN" altLang="en-US" sz="1000"/>
          </a:p>
          <a:p>
            <a:pPr algn="ctr"/>
            <a:r>
              <a:rPr lang="zh-CN" altLang="en-US" sz="1000"/>
              <a:t>财富转移</a:t>
            </a:r>
            <a:endParaRPr lang="zh-CN" altLang="en-US" sz="1000"/>
          </a:p>
        </p:txBody>
      </p:sp>
      <p:sp>
        <p:nvSpPr>
          <p:cNvPr id="47" name="文本框 46"/>
          <p:cNvSpPr txBox="1"/>
          <p:nvPr/>
        </p:nvSpPr>
        <p:spPr>
          <a:xfrm>
            <a:off x="8348345" y="501015"/>
            <a:ext cx="1577975" cy="337185"/>
          </a:xfrm>
          <a:prstGeom prst="rect">
            <a:avLst/>
          </a:prstGeom>
          <a:noFill/>
        </p:spPr>
        <p:txBody>
          <a:bodyPr wrap="square" rtlCol="0">
            <a:spAutoFit/>
          </a:bodyPr>
          <a:lstStyle/>
          <a:p>
            <a:pPr algn="ctr"/>
            <a:r>
              <a:rPr lang="zh-CN" altLang="en-US" sz="1600"/>
              <a:t>公地</a:t>
            </a:r>
            <a:r>
              <a:rPr lang="en-US" altLang="zh-CN" sz="1600"/>
              <a:t>+</a:t>
            </a:r>
            <a:r>
              <a:rPr lang="zh-CN" altLang="en-US" sz="1600"/>
              <a:t>私地</a:t>
            </a:r>
            <a:endParaRPr lang="zh-CN" altLang="en-US" sz="1600"/>
          </a:p>
        </p:txBody>
      </p:sp>
      <p:sp>
        <p:nvSpPr>
          <p:cNvPr id="48" name="文本框 47"/>
          <p:cNvSpPr txBox="1"/>
          <p:nvPr/>
        </p:nvSpPr>
        <p:spPr>
          <a:xfrm>
            <a:off x="8348345" y="1064895"/>
            <a:ext cx="1577975" cy="337185"/>
          </a:xfrm>
          <a:prstGeom prst="rect">
            <a:avLst/>
          </a:prstGeom>
          <a:noFill/>
        </p:spPr>
        <p:txBody>
          <a:bodyPr wrap="square" rtlCol="0">
            <a:spAutoFit/>
          </a:bodyPr>
          <a:lstStyle/>
          <a:p>
            <a:pPr algn="ctr"/>
            <a:r>
              <a:rPr lang="zh-CN" altLang="en-US" sz="1600"/>
              <a:t>每年衰减</a:t>
            </a:r>
            <a:r>
              <a:rPr lang="en-US" altLang="zh-CN" sz="1600"/>
              <a:t>z%</a:t>
            </a:r>
            <a:endParaRPr lang="en-US" altLang="zh-CN" sz="1600"/>
          </a:p>
        </p:txBody>
      </p:sp>
      <p:sp>
        <p:nvSpPr>
          <p:cNvPr id="49" name="文本框 48"/>
          <p:cNvSpPr txBox="1"/>
          <p:nvPr/>
        </p:nvSpPr>
        <p:spPr>
          <a:xfrm rot="3120000">
            <a:off x="5822950" y="2854960"/>
            <a:ext cx="1283335" cy="245110"/>
          </a:xfrm>
          <a:prstGeom prst="rect">
            <a:avLst/>
          </a:prstGeom>
          <a:noFill/>
        </p:spPr>
        <p:txBody>
          <a:bodyPr wrap="square" rtlCol="0">
            <a:spAutoFit/>
          </a:bodyPr>
          <a:lstStyle/>
          <a:p>
            <a:r>
              <a:rPr lang="zh-CN" altLang="en-US" sz="1000"/>
              <a:t>通过表决授权</a:t>
            </a:r>
            <a:endParaRPr lang="zh-CN" altLang="en-US" sz="1000"/>
          </a:p>
        </p:txBody>
      </p:sp>
      <p:sp>
        <p:nvSpPr>
          <p:cNvPr id="50" name="文本框 49"/>
          <p:cNvSpPr txBox="1"/>
          <p:nvPr/>
        </p:nvSpPr>
        <p:spPr>
          <a:xfrm>
            <a:off x="4926330" y="4526280"/>
            <a:ext cx="760095" cy="245110"/>
          </a:xfrm>
          <a:prstGeom prst="rect">
            <a:avLst/>
          </a:prstGeom>
          <a:noFill/>
        </p:spPr>
        <p:txBody>
          <a:bodyPr wrap="square" rtlCol="0">
            <a:spAutoFit/>
          </a:bodyPr>
          <a:lstStyle/>
          <a:p>
            <a:r>
              <a:rPr lang="zh-CN" altLang="en-US" sz="1000"/>
              <a:t>金钱消耗</a:t>
            </a:r>
            <a:endParaRPr lang="zh-CN" altLang="en-US" sz="1000"/>
          </a:p>
        </p:txBody>
      </p:sp>
      <p:sp>
        <p:nvSpPr>
          <p:cNvPr id="51" name="文本框 50"/>
          <p:cNvSpPr txBox="1"/>
          <p:nvPr/>
        </p:nvSpPr>
        <p:spPr>
          <a:xfrm>
            <a:off x="10652125" y="3100070"/>
            <a:ext cx="1056005" cy="553085"/>
          </a:xfrm>
          <a:prstGeom prst="rect">
            <a:avLst/>
          </a:prstGeom>
          <a:noFill/>
        </p:spPr>
        <p:txBody>
          <a:bodyPr wrap="square" rtlCol="0">
            <a:spAutoFit/>
          </a:bodyPr>
          <a:lstStyle/>
          <a:p>
            <a:r>
              <a:rPr lang="zh-CN" altLang="en-US" sz="1000"/>
              <a:t>骑士购买特许，资金进入国库</a:t>
            </a:r>
            <a:endParaRPr lang="zh-CN" altLang="en-US" sz="1000"/>
          </a:p>
          <a:p>
            <a:r>
              <a:rPr lang="zh-CN" altLang="en-US" sz="1000"/>
              <a:t>骑士收集税金</a:t>
            </a:r>
            <a:endParaRPr lang="zh-CN" altLang="en-US" sz="1000"/>
          </a:p>
        </p:txBody>
      </p:sp>
      <p:sp>
        <p:nvSpPr>
          <p:cNvPr id="52" name="文本框 51"/>
          <p:cNvSpPr txBox="1"/>
          <p:nvPr/>
        </p:nvSpPr>
        <p:spPr>
          <a:xfrm>
            <a:off x="10652125" y="3683000"/>
            <a:ext cx="1056005" cy="553085"/>
          </a:xfrm>
          <a:prstGeom prst="rect">
            <a:avLst/>
          </a:prstGeom>
          <a:noFill/>
        </p:spPr>
        <p:txBody>
          <a:bodyPr wrap="square" rtlCol="0">
            <a:spAutoFit/>
          </a:bodyPr>
          <a:lstStyle/>
          <a:p>
            <a:r>
              <a:rPr lang="zh-CN" altLang="en-US" sz="1000"/>
              <a:t>骑士竞标工程，</a:t>
            </a:r>
            <a:endParaRPr lang="zh-CN" altLang="en-US" sz="1000"/>
          </a:p>
          <a:p>
            <a:r>
              <a:rPr lang="zh-CN" altLang="en-US" sz="1000"/>
              <a:t>资金来自国库</a:t>
            </a:r>
            <a:endParaRPr lang="zh-CN" altLang="en-US" sz="1000"/>
          </a:p>
          <a:p>
            <a:r>
              <a:rPr lang="zh-CN" altLang="en-US" sz="1000"/>
              <a:t>骑士支出费用</a:t>
            </a:r>
            <a:endParaRPr lang="zh-CN" altLang="en-US" sz="1000"/>
          </a:p>
        </p:txBody>
      </p:sp>
      <p:sp>
        <p:nvSpPr>
          <p:cNvPr id="53" name="文本框 52"/>
          <p:cNvSpPr txBox="1"/>
          <p:nvPr/>
        </p:nvSpPr>
        <p:spPr>
          <a:xfrm>
            <a:off x="410210" y="439420"/>
            <a:ext cx="1397635" cy="398780"/>
          </a:xfrm>
          <a:prstGeom prst="rect">
            <a:avLst/>
          </a:prstGeom>
          <a:noFill/>
        </p:spPr>
        <p:txBody>
          <a:bodyPr wrap="square" rtlCol="0">
            <a:spAutoFit/>
          </a:bodyPr>
          <a:lstStyle/>
          <a:p>
            <a:pPr algn="ctr"/>
            <a:r>
              <a:rPr lang="zh-CN" altLang="en-US" sz="1000"/>
              <a:t>监察官，执政官，裁判官，财务官</a:t>
            </a:r>
            <a:endParaRPr lang="zh-CN" altLang="en-US" sz="1000"/>
          </a:p>
        </p:txBody>
      </p:sp>
      <p:sp>
        <p:nvSpPr>
          <p:cNvPr id="54" name="文本框 53"/>
          <p:cNvSpPr txBox="1"/>
          <p:nvPr/>
        </p:nvSpPr>
        <p:spPr>
          <a:xfrm>
            <a:off x="410210" y="899160"/>
            <a:ext cx="1397635" cy="553085"/>
          </a:xfrm>
          <a:prstGeom prst="rect">
            <a:avLst/>
          </a:prstGeom>
          <a:noFill/>
        </p:spPr>
        <p:txBody>
          <a:bodyPr wrap="square" rtlCol="0">
            <a:spAutoFit/>
          </a:bodyPr>
          <a:lstStyle/>
          <a:p>
            <a:pPr algn="ctr"/>
            <a:r>
              <a:rPr lang="zh-CN" altLang="en-US" sz="1000"/>
              <a:t>元老院任命大祭司，</a:t>
            </a:r>
            <a:r>
              <a:rPr lang="zh-CN" altLang="en-US" sz="1000">
                <a:sym typeface="+mn-ea"/>
              </a:rPr>
              <a:t>总督；执政官任命</a:t>
            </a:r>
            <a:r>
              <a:rPr lang="zh-CN" altLang="en-US" sz="1000"/>
              <a:t>军事保民官，军团长，</a:t>
            </a:r>
            <a:endParaRPr lang="zh-CN" altLang="en-US" sz="1000"/>
          </a:p>
        </p:txBody>
      </p:sp>
      <p:sp>
        <p:nvSpPr>
          <p:cNvPr id="55" name="文本框 54"/>
          <p:cNvSpPr txBox="1"/>
          <p:nvPr/>
        </p:nvSpPr>
        <p:spPr>
          <a:xfrm>
            <a:off x="5327650" y="285115"/>
            <a:ext cx="1260475" cy="553085"/>
          </a:xfrm>
          <a:prstGeom prst="rect">
            <a:avLst/>
          </a:prstGeom>
          <a:noFill/>
        </p:spPr>
        <p:txBody>
          <a:bodyPr wrap="square" rtlCol="0">
            <a:spAutoFit/>
          </a:bodyPr>
          <a:lstStyle/>
          <a:p>
            <a:pPr algn="ctr"/>
            <a:r>
              <a:rPr lang="zh-CN" altLang="en-US" sz="1000"/>
              <a:t>总席位</a:t>
            </a:r>
            <a:r>
              <a:rPr lang="en-US" altLang="zh-CN" sz="1000"/>
              <a:t>300</a:t>
            </a:r>
            <a:r>
              <a:rPr lang="zh-CN" altLang="en-US" sz="1000"/>
              <a:t>，按照占比分配给代表人物，是零和博弈</a:t>
            </a:r>
            <a:endParaRPr lang="zh-CN" altLang="en-US" sz="1000"/>
          </a:p>
        </p:txBody>
      </p:sp>
      <p:sp>
        <p:nvSpPr>
          <p:cNvPr id="56" name="圆角矩形 55"/>
          <p:cNvSpPr/>
          <p:nvPr/>
        </p:nvSpPr>
        <p:spPr>
          <a:xfrm>
            <a:off x="7832725" y="5079365"/>
            <a:ext cx="1259205" cy="4533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战利品</a:t>
            </a:r>
            <a:endParaRPr lang="zh-CN" altLang="en-US"/>
          </a:p>
        </p:txBody>
      </p:sp>
      <p:sp>
        <p:nvSpPr>
          <p:cNvPr id="58" name="同侧圆角矩形 57"/>
          <p:cNvSpPr/>
          <p:nvPr/>
        </p:nvSpPr>
        <p:spPr>
          <a:xfrm>
            <a:off x="9491345" y="5721350"/>
            <a:ext cx="1073785" cy="420370"/>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战争</a:t>
            </a:r>
            <a:endParaRPr lang="zh-CN" altLang="en-US"/>
          </a:p>
        </p:txBody>
      </p:sp>
      <p:sp>
        <p:nvSpPr>
          <p:cNvPr id="61" name="文本框 60"/>
          <p:cNvSpPr txBox="1"/>
          <p:nvPr/>
        </p:nvSpPr>
        <p:spPr>
          <a:xfrm>
            <a:off x="7934960" y="5590540"/>
            <a:ext cx="1054735" cy="398780"/>
          </a:xfrm>
          <a:prstGeom prst="rect">
            <a:avLst/>
          </a:prstGeom>
          <a:noFill/>
        </p:spPr>
        <p:txBody>
          <a:bodyPr wrap="square" rtlCol="0">
            <a:spAutoFit/>
          </a:bodyPr>
          <a:lstStyle/>
          <a:p>
            <a:pPr algn="ctr"/>
            <a:r>
              <a:rPr lang="zh-CN" altLang="en-US" sz="1000"/>
              <a:t>部分进入国库</a:t>
            </a:r>
            <a:endParaRPr lang="zh-CN" altLang="en-US" sz="1000"/>
          </a:p>
          <a:p>
            <a:pPr algn="ctr"/>
            <a:r>
              <a:rPr lang="zh-CN" altLang="en-US" sz="1000"/>
              <a:t>部分进入私人</a:t>
            </a:r>
            <a:endParaRPr lang="zh-CN" altLang="en-US" sz="1000"/>
          </a:p>
        </p:txBody>
      </p:sp>
      <p:sp>
        <p:nvSpPr>
          <p:cNvPr id="62" name="文本框 61"/>
          <p:cNvSpPr txBox="1"/>
          <p:nvPr/>
        </p:nvSpPr>
        <p:spPr>
          <a:xfrm>
            <a:off x="10653395" y="5721350"/>
            <a:ext cx="1054735" cy="398780"/>
          </a:xfrm>
          <a:prstGeom prst="rect">
            <a:avLst/>
          </a:prstGeom>
          <a:noFill/>
        </p:spPr>
        <p:txBody>
          <a:bodyPr wrap="square" rtlCol="0">
            <a:spAutoFit/>
          </a:bodyPr>
          <a:lstStyle/>
          <a:p>
            <a:pPr algn="ctr"/>
            <a:r>
              <a:rPr lang="zh-CN" altLang="en-US" sz="1000"/>
              <a:t>掠夺战利品和土地（公地）</a:t>
            </a:r>
            <a:endParaRPr lang="en-US" altLang="zh-CN" sz="1000"/>
          </a:p>
        </p:txBody>
      </p:sp>
      <p:cxnSp>
        <p:nvCxnSpPr>
          <p:cNvPr id="66" name="直接箭头连接符 65"/>
          <p:cNvCxnSpPr>
            <a:stCxn id="58" idx="2"/>
            <a:endCxn id="56" idx="3"/>
          </p:cNvCxnSpPr>
          <p:nvPr/>
        </p:nvCxnSpPr>
        <p:spPr>
          <a:xfrm flipH="1" flipV="1">
            <a:off x="9091930" y="5306060"/>
            <a:ext cx="39941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a:stCxn id="58" idx="3"/>
            <a:endCxn id="18" idx="1"/>
          </p:cNvCxnSpPr>
          <p:nvPr/>
        </p:nvCxnSpPr>
        <p:spPr>
          <a:xfrm flipV="1">
            <a:off x="10028555" y="5446395"/>
            <a:ext cx="0" cy="274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25" idx="2"/>
            <a:endCxn id="58" idx="1"/>
          </p:cNvCxnSpPr>
          <p:nvPr/>
        </p:nvCxnSpPr>
        <p:spPr>
          <a:xfrm rot="5400000" flipV="1">
            <a:off x="5704840" y="1818005"/>
            <a:ext cx="797560" cy="7849235"/>
          </a:xfrm>
          <a:prstGeom prst="bentConnector3">
            <a:avLst>
              <a:gd name="adj1" fmla="val 129817"/>
            </a:avLst>
          </a:prstGeom>
          <a:ln>
            <a:tailEnd type="arrow"/>
          </a:ln>
        </p:spPr>
        <p:style>
          <a:lnRef idx="2">
            <a:schemeClr val="accent1"/>
          </a:lnRef>
          <a:fillRef idx="0">
            <a:srgbClr val="FFFFFF"/>
          </a:fillRef>
          <a:effectRef idx="0">
            <a:srgbClr val="FFFFFF"/>
          </a:effectRef>
          <a:fontRef idx="minor">
            <a:schemeClr val="tx1"/>
          </a:fontRef>
        </p:style>
      </p:cxnSp>
      <p:sp>
        <p:nvSpPr>
          <p:cNvPr id="69" name="文本框 68"/>
          <p:cNvSpPr txBox="1"/>
          <p:nvPr/>
        </p:nvSpPr>
        <p:spPr>
          <a:xfrm>
            <a:off x="5591810" y="1874520"/>
            <a:ext cx="1492885" cy="368300"/>
          </a:xfrm>
          <a:prstGeom prst="rect">
            <a:avLst/>
          </a:prstGeom>
          <a:noFill/>
        </p:spPr>
        <p:txBody>
          <a:bodyPr wrap="square" rtlCol="0">
            <a:spAutoFit/>
          </a:bodyPr>
          <a:lstStyle/>
          <a:p>
            <a:r>
              <a:rPr lang="en-US" altLang="zh-CN"/>
              <a:t>Senate Phase</a:t>
            </a:r>
            <a:endParaRPr lang="en-US" altLang="zh-CN"/>
          </a:p>
        </p:txBody>
      </p:sp>
      <p:sp>
        <p:nvSpPr>
          <p:cNvPr id="70" name="文本框 69"/>
          <p:cNvSpPr txBox="1"/>
          <p:nvPr/>
        </p:nvSpPr>
        <p:spPr>
          <a:xfrm>
            <a:off x="5958205" y="4833620"/>
            <a:ext cx="1588135" cy="368300"/>
          </a:xfrm>
          <a:prstGeom prst="rect">
            <a:avLst/>
          </a:prstGeom>
          <a:noFill/>
        </p:spPr>
        <p:txBody>
          <a:bodyPr wrap="square" rtlCol="0">
            <a:spAutoFit/>
          </a:bodyPr>
          <a:lstStyle/>
          <a:p>
            <a:pPr algn="ctr"/>
            <a:r>
              <a:rPr lang="en-US" altLang="zh-CN"/>
              <a:t>Revenue Phase</a:t>
            </a:r>
            <a:endParaRPr lang="en-US" altLang="zh-CN"/>
          </a:p>
        </p:txBody>
      </p:sp>
      <p:sp>
        <p:nvSpPr>
          <p:cNvPr id="71" name="文本框 70"/>
          <p:cNvSpPr txBox="1"/>
          <p:nvPr/>
        </p:nvSpPr>
        <p:spPr>
          <a:xfrm>
            <a:off x="2993390" y="4801235"/>
            <a:ext cx="1588135" cy="645160"/>
          </a:xfrm>
          <a:prstGeom prst="rect">
            <a:avLst/>
          </a:prstGeom>
          <a:noFill/>
        </p:spPr>
        <p:txBody>
          <a:bodyPr wrap="square" rtlCol="0">
            <a:spAutoFit/>
          </a:bodyPr>
          <a:lstStyle/>
          <a:p>
            <a:pPr algn="ctr"/>
            <a:r>
              <a:rPr lang="en-US" altLang="zh-CN"/>
              <a:t>Population Phase</a:t>
            </a:r>
            <a:endParaRPr lang="en-US" altLang="zh-CN"/>
          </a:p>
        </p:txBody>
      </p:sp>
      <p:sp>
        <p:nvSpPr>
          <p:cNvPr id="72" name="文本框 71"/>
          <p:cNvSpPr txBox="1"/>
          <p:nvPr/>
        </p:nvSpPr>
        <p:spPr>
          <a:xfrm>
            <a:off x="10028555" y="6212840"/>
            <a:ext cx="1588135" cy="368300"/>
          </a:xfrm>
          <a:prstGeom prst="rect">
            <a:avLst/>
          </a:prstGeom>
          <a:noFill/>
        </p:spPr>
        <p:txBody>
          <a:bodyPr wrap="square" rtlCol="0">
            <a:spAutoFit/>
          </a:bodyPr>
          <a:lstStyle/>
          <a:p>
            <a:pPr algn="ctr"/>
            <a:r>
              <a:rPr lang="en-US" altLang="zh-CN"/>
              <a:t>Combat Phase</a:t>
            </a:r>
            <a:endParaRPr lang="en-US" altLang="zh-CN"/>
          </a:p>
        </p:txBody>
      </p:sp>
      <p:sp>
        <p:nvSpPr>
          <p:cNvPr id="73" name="文本框 72"/>
          <p:cNvSpPr txBox="1"/>
          <p:nvPr/>
        </p:nvSpPr>
        <p:spPr>
          <a:xfrm>
            <a:off x="7693660" y="3284855"/>
            <a:ext cx="1537335" cy="368300"/>
          </a:xfrm>
          <a:prstGeom prst="rect">
            <a:avLst/>
          </a:prstGeom>
          <a:noFill/>
        </p:spPr>
        <p:txBody>
          <a:bodyPr wrap="square" rtlCol="0">
            <a:spAutoFit/>
          </a:bodyPr>
          <a:lstStyle/>
          <a:p>
            <a:r>
              <a:rPr lang="en-US" altLang="zh-CN">
                <a:sym typeface="+mn-ea"/>
              </a:rPr>
              <a:t>Forum Phase</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540</Words>
  <Application>WPS 演示</Application>
  <PresentationFormat>Widescreen</PresentationFormat>
  <Paragraphs>201</Paragraphs>
  <Slides>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vt:i4>
      </vt:variant>
    </vt:vector>
  </HeadingPairs>
  <TitlesOfParts>
    <vt:vector size="11" baseType="lpstr">
      <vt:lpstr>Arial</vt:lpstr>
      <vt:lpstr>宋体</vt:lpstr>
      <vt:lpstr>Wingdings</vt:lpstr>
      <vt:lpstr>微软雅黑</vt:lpstr>
      <vt:lpstr>Calibri</vt:lpstr>
      <vt:lpstr>Arial Unicode MS</vt:lpstr>
      <vt:lpstr>WPS</vt:lpstr>
      <vt:lpstr>罗马鹰旗EOR UI设定书</vt:lpstr>
      <vt:lpstr>整体界面设定</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Kerl</dc:creator>
  <cp:lastModifiedBy>Kerl</cp:lastModifiedBy>
  <cp:revision>10</cp:revision>
  <dcterms:created xsi:type="dcterms:W3CDTF">2023-08-09T12:44:00Z</dcterms:created>
  <dcterms:modified xsi:type="dcterms:W3CDTF">2026-03-01T10:42:43Z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24DD27A6B1394041B127E59029B84ACA_12</vt:lpwstr>
  </property>
</Properties>
</file>